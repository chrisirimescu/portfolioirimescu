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4" r:id="rId9"/>
    <p:sldId id="263"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8A53F2E-3D33-45CC-BD78-AABF85C0D996}" type="datetimeFigureOut">
              <a:rPr lang="en-US" smtClean="0"/>
              <a:t>12/7/2024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92940B-A6A0-4C63-B58C-05400560930B}" type="slidenum">
              <a:rPr lang="en-US" smtClean="0"/>
              <a:t>‹#›</a:t>
            </a:fld>
            <a:endParaRPr lang="en-US"/>
          </a:p>
        </p:txBody>
      </p:sp>
    </p:spTree>
    <p:extLst>
      <p:ext uri="{BB962C8B-B14F-4D97-AF65-F5344CB8AC3E}">
        <p14:creationId xmlns:p14="http://schemas.microsoft.com/office/powerpoint/2010/main" val="18611043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A53F2E-3D33-45CC-BD78-AABF85C0D996}" type="datetimeFigureOut">
              <a:rPr lang="en-US" smtClean="0"/>
              <a:t>12/7/2024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92940B-A6A0-4C63-B58C-05400560930B}" type="slidenum">
              <a:rPr lang="en-US" smtClean="0"/>
              <a:t>‹#›</a:t>
            </a:fld>
            <a:endParaRPr lang="en-US"/>
          </a:p>
        </p:txBody>
      </p:sp>
    </p:spTree>
    <p:extLst>
      <p:ext uri="{BB962C8B-B14F-4D97-AF65-F5344CB8AC3E}">
        <p14:creationId xmlns:p14="http://schemas.microsoft.com/office/powerpoint/2010/main" val="2945091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A53F2E-3D33-45CC-BD78-AABF85C0D996}" type="datetimeFigureOut">
              <a:rPr lang="en-US" smtClean="0"/>
              <a:t>12/7/2024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92940B-A6A0-4C63-B58C-05400560930B}" type="slidenum">
              <a:rPr lang="en-US" smtClean="0"/>
              <a:t>‹#›</a:t>
            </a:fld>
            <a:endParaRPr lang="en-US"/>
          </a:p>
        </p:txBody>
      </p:sp>
    </p:spTree>
    <p:extLst>
      <p:ext uri="{BB962C8B-B14F-4D97-AF65-F5344CB8AC3E}">
        <p14:creationId xmlns:p14="http://schemas.microsoft.com/office/powerpoint/2010/main" val="10570932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8A53F2E-3D33-45CC-BD78-AABF85C0D996}" type="datetimeFigureOut">
              <a:rPr lang="en-US" smtClean="0"/>
              <a:t>12/7/2024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92940B-A6A0-4C63-B58C-05400560930B}" type="slidenum">
              <a:rPr lang="en-US" smtClean="0"/>
              <a:t>‹#›</a:t>
            </a:fld>
            <a:endParaRPr lang="en-US"/>
          </a:p>
        </p:txBody>
      </p:sp>
    </p:spTree>
    <p:extLst>
      <p:ext uri="{BB962C8B-B14F-4D97-AF65-F5344CB8AC3E}">
        <p14:creationId xmlns:p14="http://schemas.microsoft.com/office/powerpoint/2010/main" val="2792364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8A53F2E-3D33-45CC-BD78-AABF85C0D996}" type="datetimeFigureOut">
              <a:rPr lang="en-US" smtClean="0"/>
              <a:t>12/7/2024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92940B-A6A0-4C63-B58C-05400560930B}" type="slidenum">
              <a:rPr lang="en-US" smtClean="0"/>
              <a:t>‹#›</a:t>
            </a:fld>
            <a:endParaRPr lang="en-US"/>
          </a:p>
        </p:txBody>
      </p:sp>
    </p:spTree>
    <p:extLst>
      <p:ext uri="{BB962C8B-B14F-4D97-AF65-F5344CB8AC3E}">
        <p14:creationId xmlns:p14="http://schemas.microsoft.com/office/powerpoint/2010/main" val="3719033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8A53F2E-3D33-45CC-BD78-AABF85C0D996}" type="datetimeFigureOut">
              <a:rPr lang="en-US" smtClean="0"/>
              <a:t>12/7/2024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92940B-A6A0-4C63-B58C-05400560930B}" type="slidenum">
              <a:rPr lang="en-US" smtClean="0"/>
              <a:t>‹#›</a:t>
            </a:fld>
            <a:endParaRPr lang="en-US"/>
          </a:p>
        </p:txBody>
      </p:sp>
    </p:spTree>
    <p:extLst>
      <p:ext uri="{BB962C8B-B14F-4D97-AF65-F5344CB8AC3E}">
        <p14:creationId xmlns:p14="http://schemas.microsoft.com/office/powerpoint/2010/main" val="2673806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A53F2E-3D33-45CC-BD78-AABF85C0D996}" type="datetimeFigureOut">
              <a:rPr lang="en-US" smtClean="0"/>
              <a:t>12/7/2024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92940B-A6A0-4C63-B58C-05400560930B}" type="slidenum">
              <a:rPr lang="en-US" smtClean="0"/>
              <a:t>‹#›</a:t>
            </a:fld>
            <a:endParaRPr lang="en-US"/>
          </a:p>
        </p:txBody>
      </p:sp>
    </p:spTree>
    <p:extLst>
      <p:ext uri="{BB962C8B-B14F-4D97-AF65-F5344CB8AC3E}">
        <p14:creationId xmlns:p14="http://schemas.microsoft.com/office/powerpoint/2010/main" val="426439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A53F2E-3D33-45CC-BD78-AABF85C0D996}" type="datetimeFigureOut">
              <a:rPr lang="en-US" smtClean="0"/>
              <a:t>12/7/2024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92940B-A6A0-4C63-B58C-05400560930B}" type="slidenum">
              <a:rPr lang="en-US" smtClean="0"/>
              <a:t>‹#›</a:t>
            </a:fld>
            <a:endParaRPr lang="en-US"/>
          </a:p>
        </p:txBody>
      </p:sp>
    </p:spTree>
    <p:extLst>
      <p:ext uri="{BB962C8B-B14F-4D97-AF65-F5344CB8AC3E}">
        <p14:creationId xmlns:p14="http://schemas.microsoft.com/office/powerpoint/2010/main" val="2043194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A53F2E-3D33-45CC-BD78-AABF85C0D996}" type="datetimeFigureOut">
              <a:rPr lang="en-US" smtClean="0"/>
              <a:t>12/7/2024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92940B-A6A0-4C63-B58C-05400560930B}" type="slidenum">
              <a:rPr lang="en-US" smtClean="0"/>
              <a:t>‹#›</a:t>
            </a:fld>
            <a:endParaRPr lang="en-US"/>
          </a:p>
        </p:txBody>
      </p:sp>
    </p:spTree>
    <p:extLst>
      <p:ext uri="{BB962C8B-B14F-4D97-AF65-F5344CB8AC3E}">
        <p14:creationId xmlns:p14="http://schemas.microsoft.com/office/powerpoint/2010/main" val="2029965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A53F2E-3D33-45CC-BD78-AABF85C0D996}" type="datetimeFigureOut">
              <a:rPr lang="en-US" smtClean="0"/>
              <a:t>12/7/2024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92940B-A6A0-4C63-B58C-05400560930B}" type="slidenum">
              <a:rPr lang="en-US" smtClean="0"/>
              <a:t>‹#›</a:t>
            </a:fld>
            <a:endParaRPr lang="en-US"/>
          </a:p>
        </p:txBody>
      </p:sp>
    </p:spTree>
    <p:extLst>
      <p:ext uri="{BB962C8B-B14F-4D97-AF65-F5344CB8AC3E}">
        <p14:creationId xmlns:p14="http://schemas.microsoft.com/office/powerpoint/2010/main" val="2663992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A53F2E-3D33-45CC-BD78-AABF85C0D996}" type="datetimeFigureOut">
              <a:rPr lang="en-US" smtClean="0"/>
              <a:t>12/7/2024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92940B-A6A0-4C63-B58C-05400560930B}"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5438346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8A53F2E-3D33-45CC-BD78-AABF85C0D996}" type="datetimeFigureOut">
              <a:rPr lang="en-US" smtClean="0"/>
              <a:t>12/7/2024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92940B-A6A0-4C63-B58C-05400560930B}" type="slidenum">
              <a:rPr lang="en-US" smtClean="0"/>
              <a:t>‹#›</a:t>
            </a:fld>
            <a:endParaRPr lang="en-US"/>
          </a:p>
        </p:txBody>
      </p:sp>
    </p:spTree>
    <p:extLst>
      <p:ext uri="{BB962C8B-B14F-4D97-AF65-F5344CB8AC3E}">
        <p14:creationId xmlns:p14="http://schemas.microsoft.com/office/powerpoint/2010/main" val="36752307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8A53F2E-3D33-45CC-BD78-AABF85C0D996}" type="datetimeFigureOut">
              <a:rPr lang="en-US" smtClean="0"/>
              <a:t>12/7/2024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92940B-A6A0-4C63-B58C-05400560930B}"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289556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E8A53F2E-3D33-45CC-BD78-AABF85C0D996}" type="datetimeFigureOut">
              <a:rPr lang="en-US" smtClean="0"/>
              <a:t>12/7/2024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92940B-A6A0-4C63-B58C-05400560930B}" type="slidenum">
              <a:rPr lang="en-US" smtClean="0"/>
              <a:t>‹#›</a:t>
            </a:fld>
            <a:endParaRPr lang="en-US"/>
          </a:p>
        </p:txBody>
      </p:sp>
    </p:spTree>
    <p:extLst>
      <p:ext uri="{BB962C8B-B14F-4D97-AF65-F5344CB8AC3E}">
        <p14:creationId xmlns:p14="http://schemas.microsoft.com/office/powerpoint/2010/main" val="29945609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A53F2E-3D33-45CC-BD78-AABF85C0D996}" type="datetimeFigureOut">
              <a:rPr lang="en-US" smtClean="0"/>
              <a:t>12/7/2024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92940B-A6A0-4C63-B58C-05400560930B}" type="slidenum">
              <a:rPr lang="en-US" smtClean="0"/>
              <a:t>‹#›</a:t>
            </a:fld>
            <a:endParaRPr lang="en-US"/>
          </a:p>
        </p:txBody>
      </p:sp>
    </p:spTree>
    <p:extLst>
      <p:ext uri="{BB962C8B-B14F-4D97-AF65-F5344CB8AC3E}">
        <p14:creationId xmlns:p14="http://schemas.microsoft.com/office/powerpoint/2010/main" val="6707685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8A53F2E-3D33-45CC-BD78-AABF85C0D996}" type="datetimeFigureOut">
              <a:rPr lang="en-US" smtClean="0"/>
              <a:t>12/7/2024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92940B-A6A0-4C63-B58C-05400560930B}" type="slidenum">
              <a:rPr lang="en-US" smtClean="0"/>
              <a:t>‹#›</a:t>
            </a:fld>
            <a:endParaRPr lang="en-US"/>
          </a:p>
        </p:txBody>
      </p:sp>
    </p:spTree>
    <p:extLst>
      <p:ext uri="{BB962C8B-B14F-4D97-AF65-F5344CB8AC3E}">
        <p14:creationId xmlns:p14="http://schemas.microsoft.com/office/powerpoint/2010/main" val="1366856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E8A53F2E-3D33-45CC-BD78-AABF85C0D996}" type="datetimeFigureOut">
              <a:rPr lang="en-US" smtClean="0"/>
              <a:t>12/7/2024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92940B-A6A0-4C63-B58C-05400560930B}" type="slidenum">
              <a:rPr lang="en-US" smtClean="0"/>
              <a:t>‹#›</a:t>
            </a:fld>
            <a:endParaRPr lang="en-US"/>
          </a:p>
        </p:txBody>
      </p:sp>
    </p:spTree>
    <p:extLst>
      <p:ext uri="{BB962C8B-B14F-4D97-AF65-F5344CB8AC3E}">
        <p14:creationId xmlns:p14="http://schemas.microsoft.com/office/powerpoint/2010/main" val="2063784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justadudewhohacks/face-api.js?files=1"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ECE41-0B27-8B84-7C11-EDAB1CB8ED63}"/>
              </a:ext>
            </a:extLst>
          </p:cNvPr>
          <p:cNvSpPr>
            <a:spLocks noGrp="1"/>
          </p:cNvSpPr>
          <p:nvPr>
            <p:ph type="ctrTitle"/>
          </p:nvPr>
        </p:nvSpPr>
        <p:spPr/>
        <p:txBody>
          <a:bodyPr>
            <a:normAutofit/>
          </a:bodyPr>
          <a:lstStyle/>
          <a:p>
            <a:r>
              <a:rPr lang="en-US" sz="6600" b="1" dirty="0">
                <a:latin typeface="Bahnschrift" panose="020B0502040204020203" pitchFamily="34" charset="0"/>
              </a:rPr>
              <a:t>Facial Recognition Using </a:t>
            </a:r>
            <a:r>
              <a:rPr lang="en-US" sz="6600" b="1" dirty="0" err="1">
                <a:latin typeface="Bahnschrift" panose="020B0502040204020203" pitchFamily="34" charset="0"/>
              </a:rPr>
              <a:t>Javascript</a:t>
            </a:r>
            <a:endParaRPr lang="en-US" sz="6600" b="1" dirty="0">
              <a:latin typeface="Bahnschrift" panose="020B0502040204020203" pitchFamily="34" charset="0"/>
            </a:endParaRPr>
          </a:p>
        </p:txBody>
      </p:sp>
      <p:sp>
        <p:nvSpPr>
          <p:cNvPr id="3" name="Subtitle 2">
            <a:extLst>
              <a:ext uri="{FF2B5EF4-FFF2-40B4-BE49-F238E27FC236}">
                <a16:creationId xmlns:a16="http://schemas.microsoft.com/office/drawing/2014/main" id="{6D0312A8-1FF4-C55A-09EC-4CE9F08AF4DF}"/>
              </a:ext>
            </a:extLst>
          </p:cNvPr>
          <p:cNvSpPr>
            <a:spLocks noGrp="1"/>
          </p:cNvSpPr>
          <p:nvPr>
            <p:ph type="subTitle" idx="1"/>
          </p:nvPr>
        </p:nvSpPr>
        <p:spPr>
          <a:xfrm>
            <a:off x="2589213" y="4777379"/>
            <a:ext cx="8915399" cy="1614090"/>
          </a:xfrm>
        </p:spPr>
        <p:txBody>
          <a:bodyPr>
            <a:normAutofit/>
          </a:bodyPr>
          <a:lstStyle/>
          <a:p>
            <a:r>
              <a:rPr lang="en-US">
                <a:latin typeface="Bahnschrift" panose="020B0502040204020203" pitchFamily="34" charset="0"/>
              </a:rPr>
              <a:t>Irimescu </a:t>
            </a:r>
            <a:r>
              <a:rPr lang="en-US" dirty="0">
                <a:latin typeface="Bahnschrift" panose="020B0502040204020203" pitchFamily="34" charset="0"/>
              </a:rPr>
              <a:t>Ovidiu-Cristian</a:t>
            </a:r>
          </a:p>
          <a:p>
            <a:r>
              <a:rPr lang="en-US" dirty="0">
                <a:latin typeface="Bahnschrift" panose="020B0502040204020203" pitchFamily="34" charset="0"/>
              </a:rPr>
              <a:t>					</a:t>
            </a:r>
            <a:endParaRPr lang="ro-RO" dirty="0"/>
          </a:p>
        </p:txBody>
      </p:sp>
    </p:spTree>
    <p:extLst>
      <p:ext uri="{BB962C8B-B14F-4D97-AF65-F5344CB8AC3E}">
        <p14:creationId xmlns:p14="http://schemas.microsoft.com/office/powerpoint/2010/main" val="40793898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71965-D612-DDE1-6AA5-53DF064EA5D8}"/>
              </a:ext>
            </a:extLst>
          </p:cNvPr>
          <p:cNvSpPr>
            <a:spLocks noGrp="1"/>
          </p:cNvSpPr>
          <p:nvPr>
            <p:ph type="title"/>
          </p:nvPr>
        </p:nvSpPr>
        <p:spPr/>
        <p:txBody>
          <a:bodyPr/>
          <a:lstStyle/>
          <a:p>
            <a:r>
              <a:rPr lang="en-US" b="1" dirty="0" err="1">
                <a:latin typeface="Bahnschrift" panose="020B0502040204020203" pitchFamily="34" charset="0"/>
              </a:rPr>
              <a:t>Descrierea</a:t>
            </a:r>
            <a:r>
              <a:rPr lang="en-US" b="1" dirty="0">
                <a:latin typeface="Bahnschrift" panose="020B0502040204020203" pitchFamily="34" charset="0"/>
              </a:rPr>
              <a:t> </a:t>
            </a:r>
            <a:r>
              <a:rPr lang="en-US" b="1" dirty="0" err="1">
                <a:latin typeface="Bahnschrift" panose="020B0502040204020203" pitchFamily="34" charset="0"/>
              </a:rPr>
              <a:t>aplica</a:t>
            </a:r>
            <a:r>
              <a:rPr lang="ro-RO" b="1" dirty="0">
                <a:latin typeface="Bahnschrift" panose="020B0502040204020203" pitchFamily="34" charset="0"/>
              </a:rPr>
              <a:t>ției</a:t>
            </a:r>
            <a:endParaRPr lang="en-US" b="1" dirty="0">
              <a:latin typeface="Bahnschrift" panose="020B0502040204020203" pitchFamily="34" charset="0"/>
            </a:endParaRPr>
          </a:p>
        </p:txBody>
      </p:sp>
      <p:sp>
        <p:nvSpPr>
          <p:cNvPr id="3" name="Content Placeholder 2">
            <a:extLst>
              <a:ext uri="{FF2B5EF4-FFF2-40B4-BE49-F238E27FC236}">
                <a16:creationId xmlns:a16="http://schemas.microsoft.com/office/drawing/2014/main" id="{82DF1AFD-A9EB-6393-E5B8-5EE2A17AAFC2}"/>
              </a:ext>
            </a:extLst>
          </p:cNvPr>
          <p:cNvSpPr>
            <a:spLocks noGrp="1"/>
          </p:cNvSpPr>
          <p:nvPr>
            <p:ph idx="1"/>
          </p:nvPr>
        </p:nvSpPr>
        <p:spPr/>
        <p:txBody>
          <a:bodyPr>
            <a:normAutofit/>
          </a:bodyPr>
          <a:lstStyle/>
          <a:p>
            <a:r>
              <a:rPr lang="ro-RO" sz="2000" dirty="0">
                <a:latin typeface="Bahnschrift" panose="020B0502040204020203" pitchFamily="34" charset="0"/>
              </a:rPr>
              <a:t>Aplicația dezvoltată constă în detectarea feței prin prisma machine learning în JavaScript, folosind un API.</a:t>
            </a:r>
          </a:p>
          <a:p>
            <a:r>
              <a:rPr lang="en-US" sz="2000" dirty="0">
                <a:latin typeface="Bahnschrift" panose="020B0502040204020203" pitchFamily="34" charset="0"/>
              </a:rPr>
              <a:t>Un API (</a:t>
            </a:r>
            <a:r>
              <a:rPr lang="en-US" sz="2000" dirty="0" err="1">
                <a:latin typeface="Bahnschrift" panose="020B0502040204020203" pitchFamily="34" charset="0"/>
              </a:rPr>
              <a:t>interfață</a:t>
            </a:r>
            <a:r>
              <a:rPr lang="en-US" sz="2000" dirty="0">
                <a:latin typeface="Bahnschrift" panose="020B0502040204020203" pitchFamily="34" charset="0"/>
              </a:rPr>
              <a:t> de </a:t>
            </a:r>
            <a:r>
              <a:rPr lang="en-US" sz="2000" dirty="0" err="1">
                <a:latin typeface="Bahnschrift" panose="020B0502040204020203" pitchFamily="34" charset="0"/>
              </a:rPr>
              <a:t>programare</a:t>
            </a:r>
            <a:r>
              <a:rPr lang="en-US" sz="2000" dirty="0">
                <a:latin typeface="Bahnschrift" panose="020B0502040204020203" pitchFamily="34" charset="0"/>
              </a:rPr>
              <a:t> a </a:t>
            </a:r>
            <a:r>
              <a:rPr lang="en-US" sz="2000" dirty="0" err="1">
                <a:latin typeface="Bahnschrift" panose="020B0502040204020203" pitchFamily="34" charset="0"/>
              </a:rPr>
              <a:t>aplicațiilor</a:t>
            </a:r>
            <a:r>
              <a:rPr lang="en-US" sz="2000" dirty="0">
                <a:latin typeface="Bahnschrift" panose="020B0502040204020203" pitchFamily="34" charset="0"/>
              </a:rPr>
              <a:t>) </a:t>
            </a:r>
            <a:r>
              <a:rPr lang="en-US" sz="2000" dirty="0" err="1">
                <a:latin typeface="Bahnschrift" panose="020B0502040204020203" pitchFamily="34" charset="0"/>
              </a:rPr>
              <a:t>este</a:t>
            </a:r>
            <a:r>
              <a:rPr lang="en-US" sz="2000" dirty="0">
                <a:latin typeface="Bahnschrift" panose="020B0502040204020203" pitchFamily="34" charset="0"/>
              </a:rPr>
              <a:t> un set de </a:t>
            </a:r>
            <a:r>
              <a:rPr lang="en-US" sz="2000" dirty="0" err="1">
                <a:latin typeface="Bahnschrift" panose="020B0502040204020203" pitchFamily="34" charset="0"/>
              </a:rPr>
              <a:t>protocoale</a:t>
            </a:r>
            <a:r>
              <a:rPr lang="en-US" sz="2000" dirty="0">
                <a:latin typeface="Bahnschrift" panose="020B0502040204020203" pitchFamily="34" charset="0"/>
              </a:rPr>
              <a:t>, </a:t>
            </a:r>
            <a:r>
              <a:rPr lang="en-US" sz="2000" dirty="0" err="1">
                <a:latin typeface="Bahnschrift" panose="020B0502040204020203" pitchFamily="34" charset="0"/>
              </a:rPr>
              <a:t>instrumente</a:t>
            </a:r>
            <a:r>
              <a:rPr lang="en-US" sz="2000" dirty="0">
                <a:latin typeface="Bahnschrift" panose="020B0502040204020203" pitchFamily="34" charset="0"/>
              </a:rPr>
              <a:t> </a:t>
            </a:r>
            <a:r>
              <a:rPr lang="en-US" sz="2000" dirty="0" err="1">
                <a:latin typeface="Bahnschrift" panose="020B0502040204020203" pitchFamily="34" charset="0"/>
              </a:rPr>
              <a:t>și</a:t>
            </a:r>
            <a:r>
              <a:rPr lang="en-US" sz="2000" dirty="0">
                <a:latin typeface="Bahnschrift" panose="020B0502040204020203" pitchFamily="34" charset="0"/>
              </a:rPr>
              <a:t> </a:t>
            </a:r>
            <a:r>
              <a:rPr lang="en-US" sz="2000" dirty="0" err="1">
                <a:latin typeface="Bahnschrift" panose="020B0502040204020203" pitchFamily="34" charset="0"/>
              </a:rPr>
              <a:t>definitii</a:t>
            </a:r>
            <a:r>
              <a:rPr lang="en-US" sz="2000" dirty="0">
                <a:latin typeface="Bahnschrift" panose="020B0502040204020203" pitchFamily="34" charset="0"/>
              </a:rPr>
              <a:t> care permit </a:t>
            </a:r>
            <a:r>
              <a:rPr lang="en-US" sz="2000" dirty="0" err="1">
                <a:latin typeface="Bahnschrift" panose="020B0502040204020203" pitchFamily="34" charset="0"/>
              </a:rPr>
              <a:t>diferitelor</a:t>
            </a:r>
            <a:r>
              <a:rPr lang="en-US" sz="2000" dirty="0">
                <a:latin typeface="Bahnschrift" panose="020B0502040204020203" pitchFamily="34" charset="0"/>
              </a:rPr>
              <a:t> </a:t>
            </a:r>
            <a:r>
              <a:rPr lang="en-US" sz="2000" dirty="0" err="1">
                <a:latin typeface="Bahnschrift" panose="020B0502040204020203" pitchFamily="34" charset="0"/>
              </a:rPr>
              <a:t>aplicații</a:t>
            </a:r>
            <a:r>
              <a:rPr lang="en-US" sz="2000" dirty="0">
                <a:latin typeface="Bahnschrift" panose="020B0502040204020203" pitchFamily="34" charset="0"/>
              </a:rPr>
              <a:t> </a:t>
            </a:r>
            <a:r>
              <a:rPr lang="en-US" sz="2000" dirty="0" err="1">
                <a:latin typeface="Bahnschrift" panose="020B0502040204020203" pitchFamily="34" charset="0"/>
              </a:rPr>
              <a:t>să</a:t>
            </a:r>
            <a:r>
              <a:rPr lang="en-US" sz="2000" dirty="0">
                <a:latin typeface="Bahnschrift" panose="020B0502040204020203" pitchFamily="34" charset="0"/>
              </a:rPr>
              <a:t> </a:t>
            </a:r>
            <a:r>
              <a:rPr lang="en-US" sz="2000" dirty="0" err="1">
                <a:latin typeface="Bahnschrift" panose="020B0502040204020203" pitchFamily="34" charset="0"/>
              </a:rPr>
              <a:t>comunice</a:t>
            </a:r>
            <a:r>
              <a:rPr lang="en-US" sz="2000" dirty="0">
                <a:latin typeface="Bahnschrift" panose="020B0502040204020203" pitchFamily="34" charset="0"/>
              </a:rPr>
              <a:t> </a:t>
            </a:r>
            <a:r>
              <a:rPr lang="en-US" sz="2000" dirty="0" err="1">
                <a:latin typeface="Bahnschrift" panose="020B0502040204020203" pitchFamily="34" charset="0"/>
              </a:rPr>
              <a:t>între</a:t>
            </a:r>
            <a:r>
              <a:rPr lang="en-US" sz="2000" dirty="0">
                <a:latin typeface="Bahnschrift" panose="020B0502040204020203" pitchFamily="34" charset="0"/>
              </a:rPr>
              <a:t> </a:t>
            </a:r>
            <a:r>
              <a:rPr lang="en-US" sz="2000" dirty="0" err="1">
                <a:latin typeface="Bahnschrift" panose="020B0502040204020203" pitchFamily="34" charset="0"/>
              </a:rPr>
              <a:t>ele</a:t>
            </a:r>
            <a:r>
              <a:rPr lang="en-US" sz="2000" dirty="0">
                <a:latin typeface="Bahnschrift" panose="020B0502040204020203" pitchFamily="34" charset="0"/>
              </a:rPr>
              <a:t>. </a:t>
            </a:r>
            <a:r>
              <a:rPr lang="en-US" sz="2000" dirty="0" err="1">
                <a:latin typeface="Bahnschrift" panose="020B0502040204020203" pitchFamily="34" charset="0"/>
              </a:rPr>
              <a:t>În</a:t>
            </a:r>
            <a:r>
              <a:rPr lang="en-US" sz="2000" dirty="0">
                <a:latin typeface="Bahnschrift" panose="020B0502040204020203" pitchFamily="34" charset="0"/>
              </a:rPr>
              <a:t> </a:t>
            </a:r>
            <a:r>
              <a:rPr lang="en-US" sz="2000" dirty="0" err="1">
                <a:latin typeface="Bahnschrift" panose="020B0502040204020203" pitchFamily="34" charset="0"/>
              </a:rPr>
              <a:t>cazul</a:t>
            </a:r>
            <a:r>
              <a:rPr lang="en-US" sz="2000" dirty="0">
                <a:latin typeface="Bahnschrift" panose="020B0502040204020203" pitchFamily="34" charset="0"/>
              </a:rPr>
              <a:t> </a:t>
            </a:r>
            <a:r>
              <a:rPr lang="en-US" sz="2000" dirty="0" err="1">
                <a:latin typeface="Bahnschrift" panose="020B0502040204020203" pitchFamily="34" charset="0"/>
              </a:rPr>
              <a:t>unei</a:t>
            </a:r>
            <a:r>
              <a:rPr lang="en-US" sz="2000" dirty="0">
                <a:latin typeface="Bahnschrift" panose="020B0502040204020203" pitchFamily="34" charset="0"/>
              </a:rPr>
              <a:t> </a:t>
            </a:r>
            <a:r>
              <a:rPr lang="en-US" sz="2000" dirty="0" err="1">
                <a:latin typeface="Bahnschrift" panose="020B0502040204020203" pitchFamily="34" charset="0"/>
              </a:rPr>
              <a:t>aplicații</a:t>
            </a:r>
            <a:r>
              <a:rPr lang="en-US" sz="2000" dirty="0">
                <a:latin typeface="Bahnschrift" panose="020B0502040204020203" pitchFamily="34" charset="0"/>
              </a:rPr>
              <a:t> de </a:t>
            </a:r>
            <a:r>
              <a:rPr lang="en-US" sz="2000" dirty="0" err="1">
                <a:latin typeface="Bahnschrift" panose="020B0502040204020203" pitchFamily="34" charset="0"/>
              </a:rPr>
              <a:t>recunoaștere</a:t>
            </a:r>
            <a:r>
              <a:rPr lang="en-US" sz="2000" dirty="0">
                <a:latin typeface="Bahnschrift" panose="020B0502040204020203" pitchFamily="34" charset="0"/>
              </a:rPr>
              <a:t> </a:t>
            </a:r>
            <a:r>
              <a:rPr lang="en-US" sz="2000" dirty="0" err="1">
                <a:latin typeface="Bahnschrift" panose="020B0502040204020203" pitchFamily="34" charset="0"/>
              </a:rPr>
              <a:t>facială</a:t>
            </a:r>
            <a:r>
              <a:rPr lang="en-US" sz="2000" dirty="0">
                <a:latin typeface="Bahnschrift" panose="020B0502040204020203" pitchFamily="34" charset="0"/>
              </a:rPr>
              <a:t> </a:t>
            </a:r>
            <a:r>
              <a:rPr lang="en-US" sz="2000" dirty="0" err="1">
                <a:latin typeface="Bahnschrift" panose="020B0502040204020203" pitchFamily="34" charset="0"/>
              </a:rPr>
              <a:t>în</a:t>
            </a:r>
            <a:r>
              <a:rPr lang="en-US" sz="2000" dirty="0">
                <a:latin typeface="Bahnschrift" panose="020B0502040204020203" pitchFamily="34" charset="0"/>
              </a:rPr>
              <a:t> JavaScript, un API </a:t>
            </a:r>
            <a:r>
              <a:rPr lang="en-US" sz="2000" dirty="0" err="1">
                <a:latin typeface="Bahnschrift" panose="020B0502040204020203" pitchFamily="34" charset="0"/>
              </a:rPr>
              <a:t>ar</a:t>
            </a:r>
            <a:r>
              <a:rPr lang="en-US" sz="2000" dirty="0">
                <a:latin typeface="Bahnschrift" panose="020B0502040204020203" pitchFamily="34" charset="0"/>
              </a:rPr>
              <a:t> </a:t>
            </a:r>
            <a:r>
              <a:rPr lang="en-US" sz="2000" dirty="0" err="1">
                <a:latin typeface="Bahnschrift" panose="020B0502040204020203" pitchFamily="34" charset="0"/>
              </a:rPr>
              <a:t>putea</a:t>
            </a:r>
            <a:r>
              <a:rPr lang="en-US" sz="2000" dirty="0">
                <a:latin typeface="Bahnschrift" panose="020B0502040204020203" pitchFamily="34" charset="0"/>
              </a:rPr>
              <a:t> fi </a:t>
            </a:r>
            <a:r>
              <a:rPr lang="en-US" sz="2000" dirty="0" err="1">
                <a:latin typeface="Bahnschrift" panose="020B0502040204020203" pitchFamily="34" charset="0"/>
              </a:rPr>
              <a:t>utilizat</a:t>
            </a:r>
            <a:r>
              <a:rPr lang="en-US" sz="2000" dirty="0">
                <a:latin typeface="Bahnschrift" panose="020B0502040204020203" pitchFamily="34" charset="0"/>
              </a:rPr>
              <a:t> </a:t>
            </a:r>
            <a:r>
              <a:rPr lang="en-US" sz="2000" dirty="0" err="1">
                <a:latin typeface="Bahnschrift" panose="020B0502040204020203" pitchFamily="34" charset="0"/>
              </a:rPr>
              <a:t>pentru</a:t>
            </a:r>
            <a:r>
              <a:rPr lang="en-US" sz="2000" dirty="0">
                <a:latin typeface="Bahnschrift" panose="020B0502040204020203" pitchFamily="34" charset="0"/>
              </a:rPr>
              <a:t> a </a:t>
            </a:r>
            <a:r>
              <a:rPr lang="en-US" sz="2000" dirty="0" err="1">
                <a:latin typeface="Bahnschrift" panose="020B0502040204020203" pitchFamily="34" charset="0"/>
              </a:rPr>
              <a:t>permite</a:t>
            </a:r>
            <a:r>
              <a:rPr lang="en-US" sz="2000" dirty="0">
                <a:latin typeface="Bahnschrift" panose="020B0502040204020203" pitchFamily="34" charset="0"/>
              </a:rPr>
              <a:t> </a:t>
            </a:r>
            <a:r>
              <a:rPr lang="en-US" sz="2000" dirty="0" err="1">
                <a:latin typeface="Bahnschrift" panose="020B0502040204020203" pitchFamily="34" charset="0"/>
              </a:rPr>
              <a:t>aplicației</a:t>
            </a:r>
            <a:r>
              <a:rPr lang="en-US" sz="2000" dirty="0">
                <a:latin typeface="Bahnschrift" panose="020B0502040204020203" pitchFamily="34" charset="0"/>
              </a:rPr>
              <a:t> tale </a:t>
            </a:r>
            <a:r>
              <a:rPr lang="en-US" sz="2000" dirty="0" err="1">
                <a:latin typeface="Bahnschrift" panose="020B0502040204020203" pitchFamily="34" charset="0"/>
              </a:rPr>
              <a:t>să</a:t>
            </a:r>
            <a:r>
              <a:rPr lang="en-US" sz="2000" dirty="0">
                <a:latin typeface="Bahnschrift" panose="020B0502040204020203" pitchFamily="34" charset="0"/>
              </a:rPr>
              <a:t> </a:t>
            </a:r>
            <a:r>
              <a:rPr lang="en-US" sz="2000" dirty="0" err="1">
                <a:latin typeface="Bahnschrift" panose="020B0502040204020203" pitchFamily="34" charset="0"/>
              </a:rPr>
              <a:t>interacționeze</a:t>
            </a:r>
            <a:r>
              <a:rPr lang="en-US" sz="2000" dirty="0">
                <a:latin typeface="Bahnschrift" panose="020B0502040204020203" pitchFamily="34" charset="0"/>
              </a:rPr>
              <a:t> </a:t>
            </a:r>
            <a:r>
              <a:rPr lang="ro-RO" sz="2000" dirty="0">
                <a:latin typeface="Bahnschrift" panose="020B0502040204020203" pitchFamily="34" charset="0"/>
              </a:rPr>
              <a:t>cu </a:t>
            </a:r>
            <a:r>
              <a:rPr lang="en-US" sz="2000" dirty="0" err="1">
                <a:latin typeface="Bahnschrift" panose="020B0502040204020203" pitchFamily="34" charset="0"/>
              </a:rPr>
              <a:t>biblioteci</a:t>
            </a:r>
            <a:r>
              <a:rPr lang="en-US" sz="2000" dirty="0">
                <a:latin typeface="Bahnschrift" panose="020B0502040204020203" pitchFamily="34" charset="0"/>
              </a:rPr>
              <a:t> externe </a:t>
            </a:r>
            <a:r>
              <a:rPr lang="en-US" sz="2000" dirty="0" err="1">
                <a:latin typeface="Bahnschrift" panose="020B0502040204020203" pitchFamily="34" charset="0"/>
              </a:rPr>
              <a:t>pentru</a:t>
            </a:r>
            <a:r>
              <a:rPr lang="en-US" sz="2000" dirty="0">
                <a:latin typeface="Bahnschrift" panose="020B0502040204020203" pitchFamily="34" charset="0"/>
              </a:rPr>
              <a:t> a </a:t>
            </a:r>
            <a:r>
              <a:rPr lang="en-US" sz="2000" dirty="0" err="1">
                <a:latin typeface="Bahnschrift" panose="020B0502040204020203" pitchFamily="34" charset="0"/>
              </a:rPr>
              <a:t>efectua</a:t>
            </a:r>
            <a:r>
              <a:rPr lang="en-US" sz="2000" dirty="0">
                <a:latin typeface="Bahnschrift" panose="020B0502040204020203" pitchFamily="34" charset="0"/>
              </a:rPr>
              <a:t> </a:t>
            </a:r>
            <a:r>
              <a:rPr lang="en-US" sz="2000" dirty="0" err="1">
                <a:latin typeface="Bahnschrift" panose="020B0502040204020203" pitchFamily="34" charset="0"/>
              </a:rPr>
              <a:t>anumite</a:t>
            </a:r>
            <a:r>
              <a:rPr lang="en-US" sz="2000" dirty="0">
                <a:latin typeface="Bahnschrift" panose="020B0502040204020203" pitchFamily="34" charset="0"/>
              </a:rPr>
              <a:t> </a:t>
            </a:r>
            <a:r>
              <a:rPr lang="en-US" sz="2000" dirty="0" err="1">
                <a:latin typeface="Bahnschrift" panose="020B0502040204020203" pitchFamily="34" charset="0"/>
              </a:rPr>
              <a:t>funcționalități</a:t>
            </a:r>
            <a:r>
              <a:rPr lang="en-US" sz="2000" dirty="0">
                <a:latin typeface="Bahnschrift" panose="020B0502040204020203" pitchFamily="34" charset="0"/>
              </a:rPr>
              <a:t>, cum </a:t>
            </a:r>
            <a:r>
              <a:rPr lang="en-US" sz="2000" dirty="0" err="1">
                <a:latin typeface="Bahnschrift" panose="020B0502040204020203" pitchFamily="34" charset="0"/>
              </a:rPr>
              <a:t>ar</a:t>
            </a:r>
            <a:r>
              <a:rPr lang="en-US" sz="2000" dirty="0">
                <a:latin typeface="Bahnschrift" panose="020B0502040204020203" pitchFamily="34" charset="0"/>
              </a:rPr>
              <a:t> fi </a:t>
            </a:r>
            <a:r>
              <a:rPr lang="en-US" sz="2000" dirty="0" err="1">
                <a:latin typeface="Bahnschrift" panose="020B0502040204020203" pitchFamily="34" charset="0"/>
              </a:rPr>
              <a:t>recunoașterea</a:t>
            </a:r>
            <a:r>
              <a:rPr lang="en-US" sz="2000" dirty="0">
                <a:latin typeface="Bahnschrift" panose="020B0502040204020203" pitchFamily="34" charset="0"/>
              </a:rPr>
              <a:t> </a:t>
            </a:r>
            <a:r>
              <a:rPr lang="en-US" sz="2000" dirty="0" err="1">
                <a:latin typeface="Bahnschrift" panose="020B0502040204020203" pitchFamily="34" charset="0"/>
              </a:rPr>
              <a:t>facială</a:t>
            </a:r>
            <a:r>
              <a:rPr lang="en-US" sz="2000" dirty="0">
                <a:latin typeface="Bahnschrift" panose="020B0502040204020203" pitchFamily="34" charset="0"/>
              </a:rPr>
              <a:t> </a:t>
            </a:r>
            <a:r>
              <a:rPr lang="en-US" sz="2000" dirty="0" err="1">
                <a:latin typeface="Bahnschrift" panose="020B0502040204020203" pitchFamily="34" charset="0"/>
              </a:rPr>
              <a:t>sau</a:t>
            </a:r>
            <a:r>
              <a:rPr lang="en-US" sz="2000" dirty="0">
                <a:latin typeface="Bahnschrift" panose="020B0502040204020203" pitchFamily="34" charset="0"/>
              </a:rPr>
              <a:t> </a:t>
            </a:r>
            <a:r>
              <a:rPr lang="en-US" sz="2000" dirty="0" err="1">
                <a:latin typeface="Bahnschrift" panose="020B0502040204020203" pitchFamily="34" charset="0"/>
              </a:rPr>
              <a:t>procesarea</a:t>
            </a:r>
            <a:r>
              <a:rPr lang="en-US" sz="2000" dirty="0">
                <a:latin typeface="Bahnschrift" panose="020B0502040204020203" pitchFamily="34" charset="0"/>
              </a:rPr>
              <a:t> </a:t>
            </a:r>
            <a:r>
              <a:rPr lang="en-US" sz="2000" dirty="0" err="1">
                <a:latin typeface="Bahnschrift" panose="020B0502040204020203" pitchFamily="34" charset="0"/>
              </a:rPr>
              <a:t>imaginilor</a:t>
            </a:r>
            <a:r>
              <a:rPr lang="en-US" sz="2000" dirty="0">
                <a:latin typeface="Bahnschrift" panose="020B0502040204020203" pitchFamily="34" charset="0"/>
              </a:rPr>
              <a:t>.</a:t>
            </a:r>
          </a:p>
        </p:txBody>
      </p:sp>
    </p:spTree>
    <p:extLst>
      <p:ext uri="{BB962C8B-B14F-4D97-AF65-F5344CB8AC3E}">
        <p14:creationId xmlns:p14="http://schemas.microsoft.com/office/powerpoint/2010/main" val="7729288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93212D-284E-A8A5-C566-F435D36EFC35}"/>
              </a:ext>
            </a:extLst>
          </p:cNvPr>
          <p:cNvSpPr>
            <a:spLocks noGrp="1"/>
          </p:cNvSpPr>
          <p:nvPr>
            <p:ph type="title"/>
          </p:nvPr>
        </p:nvSpPr>
        <p:spPr/>
        <p:txBody>
          <a:bodyPr/>
          <a:lstStyle/>
          <a:p>
            <a:r>
              <a:rPr lang="ro-RO" b="1" dirty="0">
                <a:latin typeface="Bahnschrift" panose="020B0502040204020203" pitchFamily="34" charset="0"/>
              </a:rPr>
              <a:t>Descrierea aplicației</a:t>
            </a:r>
            <a:endParaRPr lang="en-US" b="1" dirty="0">
              <a:latin typeface="Bahnschrift" panose="020B0502040204020203" pitchFamily="34" charset="0"/>
            </a:endParaRPr>
          </a:p>
        </p:txBody>
      </p:sp>
      <p:sp>
        <p:nvSpPr>
          <p:cNvPr id="3" name="Content Placeholder 2">
            <a:extLst>
              <a:ext uri="{FF2B5EF4-FFF2-40B4-BE49-F238E27FC236}">
                <a16:creationId xmlns:a16="http://schemas.microsoft.com/office/drawing/2014/main" id="{346CA846-E089-53A1-A77B-6EEA23C54FF4}"/>
              </a:ext>
            </a:extLst>
          </p:cNvPr>
          <p:cNvSpPr>
            <a:spLocks noGrp="1"/>
          </p:cNvSpPr>
          <p:nvPr>
            <p:ph idx="1"/>
          </p:nvPr>
        </p:nvSpPr>
        <p:spPr/>
        <p:txBody>
          <a:bodyPr>
            <a:normAutofit/>
          </a:bodyPr>
          <a:lstStyle/>
          <a:p>
            <a:r>
              <a:rPr lang="ro-RO" sz="2000" dirty="0">
                <a:latin typeface="Bahnschrift" panose="020B0502040204020203" pitchFamily="34" charset="0"/>
              </a:rPr>
              <a:t>În structura proiectului s-a creat o bază de date simplificată alcătuită dintr-un director cu numele persoanei ce urmează a fi recunoscută, în care se află două poze de tip .png(</a:t>
            </a:r>
            <a:r>
              <a:rPr lang="en-US" sz="2000" dirty="0">
                <a:latin typeface="Bahnschrift" panose="020B0502040204020203" pitchFamily="34" charset="0"/>
              </a:rPr>
              <a:t>Portable Network Graphics</a:t>
            </a:r>
            <a:r>
              <a:rPr lang="ro-RO" sz="2000" dirty="0">
                <a:latin typeface="Bahnschrift" panose="020B0502040204020203" pitchFamily="34" charset="0"/>
              </a:rPr>
              <a:t>).</a:t>
            </a:r>
          </a:p>
          <a:p>
            <a:r>
              <a:rPr lang="ro-RO" sz="2000" dirty="0">
                <a:latin typeface="Bahnschrift" panose="020B0502040204020203" pitchFamily="34" charset="0"/>
              </a:rPr>
              <a:t>Aceste poze intră în etapa de Fetching, prezentă în fișierul </a:t>
            </a:r>
            <a:r>
              <a:rPr lang="ro-RO" sz="2000" i="1" dirty="0">
                <a:latin typeface="Bahnschrift" panose="020B0502040204020203" pitchFamily="34" charset="0"/>
              </a:rPr>
              <a:t>script.js.</a:t>
            </a:r>
          </a:p>
          <a:p>
            <a:r>
              <a:rPr lang="ro-RO" sz="2000" dirty="0">
                <a:latin typeface="Bahnschrift" panose="020B0502040204020203" pitchFamily="34" charset="0"/>
              </a:rPr>
              <a:t>În ordine etapele scriptului sunt</a:t>
            </a:r>
            <a:r>
              <a:rPr lang="en-US" sz="2000" dirty="0">
                <a:latin typeface="Bahnschrift" panose="020B0502040204020203" pitchFamily="34" charset="0"/>
              </a:rPr>
              <a:t>: </a:t>
            </a:r>
            <a:r>
              <a:rPr lang="en-US" sz="2000" dirty="0" err="1">
                <a:latin typeface="Bahnschrift" panose="020B0502040204020203" pitchFamily="34" charset="0"/>
              </a:rPr>
              <a:t>pornirea</a:t>
            </a:r>
            <a:r>
              <a:rPr lang="en-US" sz="2000" dirty="0">
                <a:latin typeface="Bahnschrift" panose="020B0502040204020203" pitchFamily="34" charset="0"/>
              </a:rPr>
              <a:t> </a:t>
            </a:r>
            <a:r>
              <a:rPr lang="en-US" sz="2000" dirty="0" err="1">
                <a:latin typeface="Bahnschrift" panose="020B0502040204020203" pitchFamily="34" charset="0"/>
              </a:rPr>
              <a:t>camerei</a:t>
            </a:r>
            <a:r>
              <a:rPr lang="en-US" sz="2000" dirty="0">
                <a:latin typeface="Bahnschrift" panose="020B0502040204020203" pitchFamily="34" charset="0"/>
              </a:rPr>
              <a:t> web(function </a:t>
            </a:r>
            <a:r>
              <a:rPr lang="en-US" sz="2000" dirty="0" err="1">
                <a:latin typeface="Bahnschrift" panose="020B0502040204020203" pitchFamily="34" charset="0"/>
              </a:rPr>
              <a:t>startWebcam</a:t>
            </a:r>
            <a:r>
              <a:rPr lang="en-US" sz="2000" dirty="0">
                <a:latin typeface="Bahnschrift" panose="020B0502040204020203" pitchFamily="34" charset="0"/>
              </a:rPr>
              <a:t>), Fetching(function </a:t>
            </a:r>
            <a:r>
              <a:rPr lang="en-US" sz="2000" dirty="0" err="1">
                <a:latin typeface="Bahnschrift" panose="020B0502040204020203" pitchFamily="34" charset="0"/>
              </a:rPr>
              <a:t>getLabeledFaceDescriptions</a:t>
            </a:r>
            <a:r>
              <a:rPr lang="en-US" sz="2000" dirty="0">
                <a:latin typeface="Bahnschrift" panose="020B0502040204020203" pitchFamily="34" charset="0"/>
              </a:rPr>
              <a:t>), </a:t>
            </a:r>
            <a:r>
              <a:rPr lang="en-US" sz="2000" dirty="0" err="1">
                <a:latin typeface="Bahnschrift" panose="020B0502040204020203" pitchFamily="34" charset="0"/>
              </a:rPr>
              <a:t>compara</a:t>
            </a:r>
            <a:r>
              <a:rPr lang="ro-RO" sz="2000" dirty="0">
                <a:latin typeface="Bahnschrift" panose="020B0502040204020203" pitchFamily="34" charset="0"/>
              </a:rPr>
              <a:t>ția fețelor( constanta </a:t>
            </a:r>
            <a:r>
              <a:rPr lang="en-US" sz="2000" dirty="0" err="1">
                <a:latin typeface="Bahnschrift" panose="020B0502040204020203" pitchFamily="34" charset="0"/>
              </a:rPr>
              <a:t>faceMatcher</a:t>
            </a:r>
            <a:r>
              <a:rPr lang="ro-RO" sz="2000" dirty="0">
                <a:latin typeface="Bahnschrift" panose="020B0502040204020203" pitchFamily="34" charset="0"/>
              </a:rPr>
              <a:t>), găsirea celei mai bune potriviri(metoda </a:t>
            </a:r>
            <a:r>
              <a:rPr lang="en-US" sz="2000" dirty="0" err="1">
                <a:latin typeface="Bahnschrift" panose="020B0502040204020203" pitchFamily="34" charset="0"/>
              </a:rPr>
              <a:t>findBestMatch</a:t>
            </a:r>
            <a:r>
              <a:rPr lang="ro-RO" sz="2000" dirty="0">
                <a:latin typeface="Bahnschrift" panose="020B0502040204020203" pitchFamily="34" charset="0"/>
              </a:rPr>
              <a:t>) și marcarea unui dreptunghi în urma recunoașterii alături de numele persoanei și de coeficientul decident.</a:t>
            </a:r>
            <a:endParaRPr lang="en-US" sz="2000" dirty="0">
              <a:latin typeface="Bahnschrift" panose="020B0502040204020203" pitchFamily="34" charset="0"/>
            </a:endParaRPr>
          </a:p>
          <a:p>
            <a:endParaRPr lang="en-US" sz="2000" dirty="0">
              <a:latin typeface="Bahnschrift" panose="020B0502040204020203" pitchFamily="34" charset="0"/>
            </a:endParaRPr>
          </a:p>
          <a:p>
            <a:endParaRPr lang="en-US" sz="2000" dirty="0">
              <a:latin typeface="Bahnschrift" panose="020B0502040204020203" pitchFamily="34" charset="0"/>
            </a:endParaRPr>
          </a:p>
          <a:p>
            <a:endParaRPr lang="en-US" sz="2000" dirty="0">
              <a:latin typeface="Bahnschrift" panose="020B0502040204020203" pitchFamily="34" charset="0"/>
            </a:endParaRPr>
          </a:p>
          <a:p>
            <a:endParaRPr lang="en-US" sz="2000" dirty="0">
              <a:latin typeface="Bahnschrift" panose="020B0502040204020203" pitchFamily="34" charset="0"/>
            </a:endParaRPr>
          </a:p>
        </p:txBody>
      </p:sp>
    </p:spTree>
    <p:extLst>
      <p:ext uri="{BB962C8B-B14F-4D97-AF65-F5344CB8AC3E}">
        <p14:creationId xmlns:p14="http://schemas.microsoft.com/office/powerpoint/2010/main" val="18568571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57AFD-1629-8952-06B3-66F41C692CC9}"/>
              </a:ext>
            </a:extLst>
          </p:cNvPr>
          <p:cNvSpPr>
            <a:spLocks noGrp="1"/>
          </p:cNvSpPr>
          <p:nvPr>
            <p:ph type="title"/>
          </p:nvPr>
        </p:nvSpPr>
        <p:spPr>
          <a:xfrm>
            <a:off x="2592925" y="577457"/>
            <a:ext cx="8911687" cy="1280890"/>
          </a:xfrm>
        </p:spPr>
        <p:txBody>
          <a:bodyPr/>
          <a:lstStyle/>
          <a:p>
            <a:r>
              <a:rPr lang="ro-RO" b="1" dirty="0">
                <a:latin typeface="Bahnschrift" panose="020B0502040204020203" pitchFamily="34" charset="0"/>
              </a:rPr>
              <a:t>Descrierea aplicației</a:t>
            </a:r>
            <a:endParaRPr lang="en-US" b="1" dirty="0"/>
          </a:p>
        </p:txBody>
      </p:sp>
      <p:sp>
        <p:nvSpPr>
          <p:cNvPr id="3" name="Content Placeholder 2">
            <a:extLst>
              <a:ext uri="{FF2B5EF4-FFF2-40B4-BE49-F238E27FC236}">
                <a16:creationId xmlns:a16="http://schemas.microsoft.com/office/drawing/2014/main" id="{93C56664-1A15-C597-B4A8-DF75F5132714}"/>
              </a:ext>
            </a:extLst>
          </p:cNvPr>
          <p:cNvSpPr>
            <a:spLocks noGrp="1"/>
          </p:cNvSpPr>
          <p:nvPr>
            <p:ph idx="1"/>
          </p:nvPr>
        </p:nvSpPr>
        <p:spPr/>
        <p:txBody>
          <a:bodyPr>
            <a:normAutofit/>
          </a:bodyPr>
          <a:lstStyle/>
          <a:p>
            <a:r>
              <a:rPr lang="ro-RO" sz="2000" dirty="0">
                <a:latin typeface="Bahnschrift" panose="020B0502040204020203" pitchFamily="34" charset="0"/>
              </a:rPr>
              <a:t>Coeficientul decident poate lua valori între 0 și 1, cea din urmă valoare reprezentând potrivire perfectă.</a:t>
            </a:r>
          </a:p>
          <a:p>
            <a:r>
              <a:rPr lang="ro-RO" sz="2000" dirty="0">
                <a:latin typeface="Bahnschrift" panose="020B0502040204020203" pitchFamily="34" charset="0"/>
              </a:rPr>
              <a:t>Pe lângă </a:t>
            </a:r>
            <a:r>
              <a:rPr lang="ro-RO" sz="2000" i="1" dirty="0">
                <a:latin typeface="Bahnschrift" panose="020B0502040204020203" pitchFamily="34" charset="0"/>
              </a:rPr>
              <a:t>script.js </a:t>
            </a:r>
            <a:r>
              <a:rPr lang="ro-RO" sz="2000" dirty="0">
                <a:latin typeface="Bahnschrift" panose="020B0502040204020203" pitchFamily="34" charset="0"/>
              </a:rPr>
              <a:t>se mai folosesc</a:t>
            </a:r>
            <a:r>
              <a:rPr lang="en-US" sz="2000" dirty="0">
                <a:latin typeface="Bahnschrift" panose="020B0502040204020203" pitchFamily="34" charset="0"/>
              </a:rPr>
              <a:t>:</a:t>
            </a:r>
            <a:r>
              <a:rPr lang="ro-RO" sz="2000" dirty="0">
                <a:latin typeface="Bahnschrift" panose="020B0502040204020203" pitchFamily="34" charset="0"/>
              </a:rPr>
              <a:t> </a:t>
            </a:r>
            <a:r>
              <a:rPr lang="ro-RO" sz="2000" i="1" dirty="0">
                <a:latin typeface="Bahnschrift" panose="020B0502040204020203" pitchFamily="34" charset="0"/>
              </a:rPr>
              <a:t>index.html</a:t>
            </a:r>
            <a:r>
              <a:rPr lang="ro-RO" sz="2000" dirty="0">
                <a:latin typeface="Bahnschrift" panose="020B0502040204020203" pitchFamily="34" charset="0"/>
              </a:rPr>
              <a:t>, cu rol de realizare efectivă a aplicației web în cadrul căreia este implementat API-ul ce reprezintă nucleul aplicației, scriptul ce face apelări(script.js) și un canvas, pe care se află conținutul camerei web, cât</a:t>
            </a:r>
            <a:r>
              <a:rPr lang="en-US" sz="2000" dirty="0">
                <a:latin typeface="Bahnschrift" panose="020B0502040204020203" pitchFamily="34" charset="0"/>
              </a:rPr>
              <a:t> </a:t>
            </a:r>
            <a:r>
              <a:rPr lang="ro-RO" sz="2000" dirty="0">
                <a:latin typeface="Bahnschrift" panose="020B0502040204020203" pitchFamily="34" charset="0"/>
              </a:rPr>
              <a:t>și </a:t>
            </a:r>
            <a:r>
              <a:rPr lang="ro-RO" sz="2000" i="1" dirty="0">
                <a:latin typeface="Bahnschrift" panose="020B0502040204020203" pitchFamily="34" charset="0"/>
              </a:rPr>
              <a:t>style.css, </a:t>
            </a:r>
            <a:r>
              <a:rPr lang="ro-RO" sz="2000" dirty="0">
                <a:latin typeface="Bahnschrift" panose="020B0502040204020203" pitchFamily="34" charset="0"/>
              </a:rPr>
              <a:t>ce are rol în cosmetizarea paginii.</a:t>
            </a:r>
            <a:endParaRPr lang="en-US" sz="2000" dirty="0">
              <a:latin typeface="Bahnschrift" panose="020B0502040204020203" pitchFamily="34" charset="0"/>
            </a:endParaRPr>
          </a:p>
        </p:txBody>
      </p:sp>
    </p:spTree>
    <p:extLst>
      <p:ext uri="{BB962C8B-B14F-4D97-AF65-F5344CB8AC3E}">
        <p14:creationId xmlns:p14="http://schemas.microsoft.com/office/powerpoint/2010/main" val="2957102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F6914-29FC-8198-C63A-476A2B57994B}"/>
              </a:ext>
            </a:extLst>
          </p:cNvPr>
          <p:cNvSpPr>
            <a:spLocks noGrp="1"/>
          </p:cNvSpPr>
          <p:nvPr>
            <p:ph type="title"/>
          </p:nvPr>
        </p:nvSpPr>
        <p:spPr/>
        <p:txBody>
          <a:bodyPr/>
          <a:lstStyle/>
          <a:p>
            <a:r>
              <a:rPr lang="ro-RO" b="1" dirty="0">
                <a:latin typeface="Bahnschrift" panose="020B0502040204020203" pitchFamily="34" charset="0"/>
              </a:rPr>
              <a:t>Biblioteca utilizată</a:t>
            </a:r>
            <a:endParaRPr lang="en-US" b="1" dirty="0">
              <a:latin typeface="Bahnschrift" panose="020B0502040204020203" pitchFamily="34" charset="0"/>
            </a:endParaRPr>
          </a:p>
        </p:txBody>
      </p:sp>
      <p:sp>
        <p:nvSpPr>
          <p:cNvPr id="3" name="Content Placeholder 2">
            <a:extLst>
              <a:ext uri="{FF2B5EF4-FFF2-40B4-BE49-F238E27FC236}">
                <a16:creationId xmlns:a16="http://schemas.microsoft.com/office/drawing/2014/main" id="{EA8BEB8C-0029-4909-D80A-EE47B4A71247}"/>
              </a:ext>
            </a:extLst>
          </p:cNvPr>
          <p:cNvSpPr>
            <a:spLocks noGrp="1"/>
          </p:cNvSpPr>
          <p:nvPr>
            <p:ph idx="1"/>
          </p:nvPr>
        </p:nvSpPr>
        <p:spPr/>
        <p:txBody>
          <a:bodyPr>
            <a:normAutofit/>
          </a:bodyPr>
          <a:lstStyle/>
          <a:p>
            <a:pPr algn="l"/>
            <a:r>
              <a:rPr lang="en-US" sz="2000" dirty="0">
                <a:latin typeface="Bahnschrift" panose="020B0502040204020203" pitchFamily="34" charset="0"/>
              </a:rPr>
              <a:t>Face-api.js </a:t>
            </a:r>
            <a:r>
              <a:rPr lang="en-US" sz="2000" dirty="0" err="1">
                <a:latin typeface="Bahnschrift" panose="020B0502040204020203" pitchFamily="34" charset="0"/>
              </a:rPr>
              <a:t>este</a:t>
            </a:r>
            <a:r>
              <a:rPr lang="en-US" sz="2000" dirty="0">
                <a:latin typeface="Bahnschrift" panose="020B0502040204020203" pitchFamily="34" charset="0"/>
              </a:rPr>
              <a:t> o </a:t>
            </a:r>
            <a:r>
              <a:rPr lang="en-US" sz="2000" dirty="0" err="1">
                <a:latin typeface="Bahnschrift" panose="020B0502040204020203" pitchFamily="34" charset="0"/>
              </a:rPr>
              <a:t>bibliotecă</a:t>
            </a:r>
            <a:r>
              <a:rPr lang="en-US" sz="2000" dirty="0">
                <a:latin typeface="Bahnschrift" panose="020B0502040204020203" pitchFamily="34" charset="0"/>
              </a:rPr>
              <a:t> open-source </a:t>
            </a:r>
            <a:r>
              <a:rPr lang="ro-RO" sz="2000" dirty="0">
                <a:latin typeface="Bahnschrift" panose="020B0502040204020203" pitchFamily="34" charset="0"/>
              </a:rPr>
              <a:t>ce </a:t>
            </a:r>
            <a:r>
              <a:rPr lang="en-US" sz="2000" dirty="0" err="1">
                <a:latin typeface="Bahnschrift" panose="020B0502040204020203" pitchFamily="34" charset="0"/>
              </a:rPr>
              <a:t>permite</a:t>
            </a:r>
            <a:r>
              <a:rPr lang="en-US" sz="2000" dirty="0">
                <a:latin typeface="Bahnschrift" panose="020B0502040204020203" pitchFamily="34" charset="0"/>
              </a:rPr>
              <a:t> </a:t>
            </a:r>
            <a:r>
              <a:rPr lang="en-US" sz="2000" dirty="0" err="1">
                <a:latin typeface="Bahnschrift" panose="020B0502040204020203" pitchFamily="34" charset="0"/>
              </a:rPr>
              <a:t>dezvoltatorilor</a:t>
            </a:r>
            <a:r>
              <a:rPr lang="en-US" sz="2000" dirty="0">
                <a:latin typeface="Bahnschrift" panose="020B0502040204020203" pitchFamily="34" charset="0"/>
              </a:rPr>
              <a:t> </a:t>
            </a:r>
            <a:r>
              <a:rPr lang="en-US" sz="2000" dirty="0" err="1">
                <a:latin typeface="Bahnschrift" panose="020B0502040204020203" pitchFamily="34" charset="0"/>
              </a:rPr>
              <a:t>să</a:t>
            </a:r>
            <a:r>
              <a:rPr lang="en-US" sz="2000" dirty="0">
                <a:latin typeface="Bahnschrift" panose="020B0502040204020203" pitchFamily="34" charset="0"/>
              </a:rPr>
              <a:t> </a:t>
            </a:r>
            <a:r>
              <a:rPr lang="en-US" sz="2000" dirty="0" err="1">
                <a:latin typeface="Bahnschrift" panose="020B0502040204020203" pitchFamily="34" charset="0"/>
              </a:rPr>
              <a:t>efectueze</a:t>
            </a:r>
            <a:r>
              <a:rPr lang="en-US" sz="2000" dirty="0">
                <a:latin typeface="Bahnschrift" panose="020B0502040204020203" pitchFamily="34" charset="0"/>
              </a:rPr>
              <a:t> diverse </a:t>
            </a:r>
            <a:r>
              <a:rPr lang="en-US" sz="2000" dirty="0" err="1">
                <a:latin typeface="Bahnschrift" panose="020B0502040204020203" pitchFamily="34" charset="0"/>
              </a:rPr>
              <a:t>operațiuni</a:t>
            </a:r>
            <a:r>
              <a:rPr lang="en-US" sz="2000" dirty="0">
                <a:latin typeface="Bahnschrift" panose="020B0502040204020203" pitchFamily="34" charset="0"/>
              </a:rPr>
              <a:t> legate de </a:t>
            </a:r>
            <a:r>
              <a:rPr lang="en-US" sz="2000" dirty="0" err="1">
                <a:latin typeface="Bahnschrift" panose="020B0502040204020203" pitchFamily="34" charset="0"/>
              </a:rPr>
              <a:t>analiza</a:t>
            </a:r>
            <a:r>
              <a:rPr lang="en-US" sz="2000" dirty="0">
                <a:latin typeface="Bahnschrift" panose="020B0502040204020203" pitchFamily="34" charset="0"/>
              </a:rPr>
              <a:t> </a:t>
            </a:r>
            <a:r>
              <a:rPr lang="en-US" sz="2000" dirty="0" err="1">
                <a:latin typeface="Bahnschrift" panose="020B0502040204020203" pitchFamily="34" charset="0"/>
              </a:rPr>
              <a:t>facială</a:t>
            </a:r>
            <a:r>
              <a:rPr lang="en-US" sz="2000" dirty="0">
                <a:latin typeface="Bahnschrift" panose="020B0502040204020203" pitchFamily="34" charset="0"/>
              </a:rPr>
              <a:t>, cum </a:t>
            </a:r>
            <a:r>
              <a:rPr lang="en-US" sz="2000" dirty="0" err="1">
                <a:latin typeface="Bahnschrift" panose="020B0502040204020203" pitchFamily="34" charset="0"/>
              </a:rPr>
              <a:t>ar</a:t>
            </a:r>
            <a:r>
              <a:rPr lang="en-US" sz="2000" dirty="0">
                <a:latin typeface="Bahnschrift" panose="020B0502040204020203" pitchFamily="34" charset="0"/>
              </a:rPr>
              <a:t> fi </a:t>
            </a:r>
            <a:r>
              <a:rPr lang="en-US" sz="2000" dirty="0" err="1">
                <a:latin typeface="Bahnschrift" panose="020B0502040204020203" pitchFamily="34" charset="0"/>
              </a:rPr>
              <a:t>recunoașterea</a:t>
            </a:r>
            <a:r>
              <a:rPr lang="en-US" sz="2000" dirty="0">
                <a:latin typeface="Bahnschrift" panose="020B0502040204020203" pitchFamily="34" charset="0"/>
              </a:rPr>
              <a:t> </a:t>
            </a:r>
            <a:r>
              <a:rPr lang="en-US" sz="2000" dirty="0" err="1">
                <a:latin typeface="Bahnschrift" panose="020B0502040204020203" pitchFamily="34" charset="0"/>
              </a:rPr>
              <a:t>fețelor</a:t>
            </a:r>
            <a:r>
              <a:rPr lang="en-US" sz="2000" dirty="0">
                <a:latin typeface="Bahnschrift" panose="020B0502040204020203" pitchFamily="34" charset="0"/>
              </a:rPr>
              <a:t>, </a:t>
            </a:r>
            <a:r>
              <a:rPr lang="en-US" sz="2000" dirty="0" err="1">
                <a:latin typeface="Bahnschrift" panose="020B0502040204020203" pitchFamily="34" charset="0"/>
              </a:rPr>
              <a:t>detectarea</a:t>
            </a:r>
            <a:r>
              <a:rPr lang="en-US" sz="2000" dirty="0">
                <a:latin typeface="Bahnschrift" panose="020B0502040204020203" pitchFamily="34" charset="0"/>
              </a:rPr>
              <a:t> </a:t>
            </a:r>
            <a:r>
              <a:rPr lang="en-US" sz="2000" dirty="0" err="1">
                <a:latin typeface="Bahnschrift" panose="020B0502040204020203" pitchFamily="34" charset="0"/>
              </a:rPr>
              <a:t>expresiilor</a:t>
            </a:r>
            <a:r>
              <a:rPr lang="en-US" sz="2000" dirty="0">
                <a:latin typeface="Bahnschrift" panose="020B0502040204020203" pitchFamily="34" charset="0"/>
              </a:rPr>
              <a:t> </a:t>
            </a:r>
            <a:r>
              <a:rPr lang="en-US" sz="2000" dirty="0" err="1">
                <a:latin typeface="Bahnschrift" panose="020B0502040204020203" pitchFamily="34" charset="0"/>
              </a:rPr>
              <a:t>faciale</a:t>
            </a:r>
            <a:r>
              <a:rPr lang="en-US" sz="2000" dirty="0">
                <a:latin typeface="Bahnschrift" panose="020B0502040204020203" pitchFamily="34" charset="0"/>
              </a:rPr>
              <a:t>, </a:t>
            </a:r>
            <a:r>
              <a:rPr lang="en-US" sz="2000" dirty="0" err="1">
                <a:latin typeface="Bahnschrift" panose="020B0502040204020203" pitchFamily="34" charset="0"/>
              </a:rPr>
              <a:t>estimarea</a:t>
            </a:r>
            <a:r>
              <a:rPr lang="en-US" sz="2000" dirty="0">
                <a:latin typeface="Bahnschrift" panose="020B0502040204020203" pitchFamily="34" charset="0"/>
              </a:rPr>
              <a:t> </a:t>
            </a:r>
            <a:r>
              <a:rPr lang="en-US" sz="2000" dirty="0" err="1">
                <a:latin typeface="Bahnschrift" panose="020B0502040204020203" pitchFamily="34" charset="0"/>
              </a:rPr>
              <a:t>vârstei</a:t>
            </a:r>
            <a:r>
              <a:rPr lang="en-US" sz="2000" dirty="0">
                <a:latin typeface="Bahnschrift" panose="020B0502040204020203" pitchFamily="34" charset="0"/>
              </a:rPr>
              <a:t>, </a:t>
            </a:r>
            <a:r>
              <a:rPr lang="en-US" sz="2000" dirty="0" err="1">
                <a:latin typeface="Bahnschrift" panose="020B0502040204020203" pitchFamily="34" charset="0"/>
              </a:rPr>
              <a:t>genului</a:t>
            </a:r>
            <a:r>
              <a:rPr lang="en-US" sz="2000" dirty="0">
                <a:latin typeface="Bahnschrift" panose="020B0502040204020203" pitchFamily="34" charset="0"/>
              </a:rPr>
              <a:t> </a:t>
            </a:r>
            <a:r>
              <a:rPr lang="en-US" sz="2000" dirty="0" err="1">
                <a:latin typeface="Bahnschrift" panose="020B0502040204020203" pitchFamily="34" charset="0"/>
              </a:rPr>
              <a:t>și</a:t>
            </a:r>
            <a:r>
              <a:rPr lang="en-US" sz="2000" dirty="0">
                <a:latin typeface="Bahnschrift" panose="020B0502040204020203" pitchFamily="34" charset="0"/>
              </a:rPr>
              <a:t> a </a:t>
            </a:r>
            <a:r>
              <a:rPr lang="en-US" sz="2000" dirty="0" err="1">
                <a:latin typeface="Bahnschrift" panose="020B0502040204020203" pitchFamily="34" charset="0"/>
              </a:rPr>
              <a:t>altor</a:t>
            </a:r>
            <a:r>
              <a:rPr lang="en-US" sz="2000" dirty="0">
                <a:latin typeface="Bahnschrift" panose="020B0502040204020203" pitchFamily="34" charset="0"/>
              </a:rPr>
              <a:t> </a:t>
            </a:r>
            <a:r>
              <a:rPr lang="en-US" sz="2000" dirty="0" err="1">
                <a:latin typeface="Bahnschrift" panose="020B0502040204020203" pitchFamily="34" charset="0"/>
              </a:rPr>
              <a:t>caracteristici</a:t>
            </a:r>
            <a:r>
              <a:rPr lang="en-US" sz="2000" dirty="0">
                <a:latin typeface="Bahnschrift" panose="020B0502040204020203" pitchFamily="34" charset="0"/>
              </a:rPr>
              <a:t> ale </a:t>
            </a:r>
            <a:r>
              <a:rPr lang="en-US" sz="2000" dirty="0" err="1">
                <a:latin typeface="Bahnschrift" panose="020B0502040204020203" pitchFamily="34" charset="0"/>
              </a:rPr>
              <a:t>feței</a:t>
            </a:r>
            <a:r>
              <a:rPr lang="en-US" sz="2000" dirty="0">
                <a:latin typeface="Bahnschrift" panose="020B0502040204020203" pitchFamily="34" charset="0"/>
              </a:rPr>
              <a:t> </a:t>
            </a:r>
            <a:r>
              <a:rPr lang="en-US" sz="2000" dirty="0" err="1">
                <a:latin typeface="Bahnschrift" panose="020B0502040204020203" pitchFamily="34" charset="0"/>
              </a:rPr>
              <a:t>folosind</a:t>
            </a:r>
            <a:r>
              <a:rPr lang="en-US" sz="2000" dirty="0">
                <a:latin typeface="Bahnschrift" panose="020B0502040204020203" pitchFamily="34" charset="0"/>
              </a:rPr>
              <a:t> </a:t>
            </a:r>
            <a:r>
              <a:rPr lang="en-US" sz="2000" dirty="0" err="1">
                <a:latin typeface="Bahnschrift" panose="020B0502040204020203" pitchFamily="34" charset="0"/>
              </a:rPr>
              <a:t>tehnici</a:t>
            </a:r>
            <a:r>
              <a:rPr lang="en-US" sz="2000" dirty="0">
                <a:latin typeface="Bahnschrift" panose="020B0502040204020203" pitchFamily="34" charset="0"/>
              </a:rPr>
              <a:t> de </a:t>
            </a:r>
            <a:r>
              <a:rPr lang="en-US" sz="2000" dirty="0" err="1">
                <a:latin typeface="Bahnschrift" panose="020B0502040204020203" pitchFamily="34" charset="0"/>
              </a:rPr>
              <a:t>învățare</a:t>
            </a:r>
            <a:r>
              <a:rPr lang="en-US" sz="2000" dirty="0">
                <a:latin typeface="Bahnschrift" panose="020B0502040204020203" pitchFamily="34" charset="0"/>
              </a:rPr>
              <a:t> </a:t>
            </a:r>
            <a:r>
              <a:rPr lang="en-US" sz="2000" dirty="0" err="1">
                <a:latin typeface="Bahnschrift" panose="020B0502040204020203" pitchFamily="34" charset="0"/>
              </a:rPr>
              <a:t>automată</a:t>
            </a:r>
            <a:r>
              <a:rPr lang="en-US" sz="2000" dirty="0">
                <a:latin typeface="Bahnschrift" panose="020B0502040204020203" pitchFamily="34" charset="0"/>
              </a:rPr>
              <a:t> </a:t>
            </a:r>
            <a:r>
              <a:rPr lang="en-US" sz="2000" dirty="0" err="1">
                <a:latin typeface="Bahnschrift" panose="020B0502040204020203" pitchFamily="34" charset="0"/>
              </a:rPr>
              <a:t>și</a:t>
            </a:r>
            <a:r>
              <a:rPr lang="en-US" sz="2000" dirty="0">
                <a:latin typeface="Bahnschrift" panose="020B0502040204020203" pitchFamily="34" charset="0"/>
              </a:rPr>
              <a:t> </a:t>
            </a:r>
            <a:r>
              <a:rPr lang="en-US" sz="2000" dirty="0" err="1">
                <a:latin typeface="Bahnschrift" panose="020B0502040204020203" pitchFamily="34" charset="0"/>
              </a:rPr>
              <a:t>rețele</a:t>
            </a:r>
            <a:r>
              <a:rPr lang="en-US" sz="2000" dirty="0">
                <a:latin typeface="Bahnschrift" panose="020B0502040204020203" pitchFamily="34" charset="0"/>
              </a:rPr>
              <a:t> </a:t>
            </a:r>
            <a:r>
              <a:rPr lang="en-US" sz="2000" dirty="0" err="1">
                <a:latin typeface="Bahnschrift" panose="020B0502040204020203" pitchFamily="34" charset="0"/>
              </a:rPr>
              <a:t>neurale</a:t>
            </a:r>
            <a:r>
              <a:rPr lang="en-US" sz="2000" dirty="0">
                <a:latin typeface="Bahnschrift" panose="020B0502040204020203" pitchFamily="34" charset="0"/>
              </a:rPr>
              <a:t>.</a:t>
            </a:r>
          </a:p>
        </p:txBody>
      </p:sp>
      <p:pic>
        <p:nvPicPr>
          <p:cNvPr id="7" name="Picture 6">
            <a:extLst>
              <a:ext uri="{FF2B5EF4-FFF2-40B4-BE49-F238E27FC236}">
                <a16:creationId xmlns:a16="http://schemas.microsoft.com/office/drawing/2014/main" id="{71E235CB-54E9-6A80-117A-18DE4DE24D4D}"/>
              </a:ext>
            </a:extLst>
          </p:cNvPr>
          <p:cNvPicPr>
            <a:picLocks noChangeAspect="1"/>
          </p:cNvPicPr>
          <p:nvPr/>
        </p:nvPicPr>
        <p:blipFill>
          <a:blip r:embed="rId2"/>
          <a:stretch>
            <a:fillRect/>
          </a:stretch>
        </p:blipFill>
        <p:spPr>
          <a:xfrm>
            <a:off x="4351337" y="4022411"/>
            <a:ext cx="5391150" cy="1619250"/>
          </a:xfrm>
          <a:prstGeom prst="rect">
            <a:avLst/>
          </a:prstGeom>
        </p:spPr>
      </p:pic>
    </p:spTree>
    <p:extLst>
      <p:ext uri="{BB962C8B-B14F-4D97-AF65-F5344CB8AC3E}">
        <p14:creationId xmlns:p14="http://schemas.microsoft.com/office/powerpoint/2010/main" val="12510262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985FA-EA48-461D-A092-A2019F6273FE}"/>
              </a:ext>
            </a:extLst>
          </p:cNvPr>
          <p:cNvSpPr>
            <a:spLocks noGrp="1"/>
          </p:cNvSpPr>
          <p:nvPr>
            <p:ph type="title"/>
          </p:nvPr>
        </p:nvSpPr>
        <p:spPr>
          <a:xfrm>
            <a:off x="1894115" y="624110"/>
            <a:ext cx="8966685" cy="1102053"/>
          </a:xfrm>
        </p:spPr>
        <p:txBody>
          <a:bodyPr/>
          <a:lstStyle/>
          <a:p>
            <a:r>
              <a:rPr lang="ro-RO" b="1" dirty="0">
                <a:latin typeface="Bahnschrift" panose="020B0502040204020203" pitchFamily="34" charset="0"/>
              </a:rPr>
              <a:t>Biblioteca utilizată</a:t>
            </a:r>
            <a:endParaRPr lang="en-US" b="1" dirty="0"/>
          </a:p>
        </p:txBody>
      </p:sp>
      <p:sp>
        <p:nvSpPr>
          <p:cNvPr id="3" name="Content Placeholder 2">
            <a:extLst>
              <a:ext uri="{FF2B5EF4-FFF2-40B4-BE49-F238E27FC236}">
                <a16:creationId xmlns:a16="http://schemas.microsoft.com/office/drawing/2014/main" id="{7EDADE99-055C-EE23-6C08-C765A41E32C5}"/>
              </a:ext>
            </a:extLst>
          </p:cNvPr>
          <p:cNvSpPr>
            <a:spLocks noGrp="1"/>
          </p:cNvSpPr>
          <p:nvPr>
            <p:ph idx="1"/>
          </p:nvPr>
        </p:nvSpPr>
        <p:spPr>
          <a:xfrm>
            <a:off x="1875453" y="1726163"/>
            <a:ext cx="9629159" cy="4185059"/>
          </a:xfrm>
        </p:spPr>
        <p:txBody>
          <a:bodyPr/>
          <a:lstStyle/>
          <a:p>
            <a:r>
              <a:rPr lang="en-US" sz="2000" dirty="0">
                <a:latin typeface="Bahnschrift" panose="020B0502040204020203" pitchFamily="34" charset="0"/>
              </a:rPr>
              <a:t>Face-api.js </a:t>
            </a:r>
            <a:r>
              <a:rPr lang="en-US" sz="2000" dirty="0" err="1">
                <a:latin typeface="Bahnschrift" panose="020B0502040204020203" pitchFamily="34" charset="0"/>
              </a:rPr>
              <a:t>este</a:t>
            </a:r>
            <a:r>
              <a:rPr lang="en-US" sz="2000" dirty="0">
                <a:latin typeface="Bahnschrift" panose="020B0502040204020203" pitchFamily="34" charset="0"/>
              </a:rPr>
              <a:t> </a:t>
            </a:r>
            <a:r>
              <a:rPr lang="en-US" sz="2000" dirty="0" err="1">
                <a:latin typeface="Bahnschrift" panose="020B0502040204020203" pitchFamily="34" charset="0"/>
              </a:rPr>
              <a:t>construită</a:t>
            </a:r>
            <a:r>
              <a:rPr lang="en-US" sz="2000" dirty="0">
                <a:latin typeface="Bahnschrift" panose="020B0502040204020203" pitchFamily="34" charset="0"/>
              </a:rPr>
              <a:t> pe TensorFlow.js</a:t>
            </a:r>
            <a:r>
              <a:rPr lang="ro-RO" sz="2000" dirty="0">
                <a:latin typeface="Bahnschrift" panose="020B0502040204020203" pitchFamily="34" charset="0"/>
              </a:rPr>
              <a:t>, iar p</a:t>
            </a:r>
            <a:r>
              <a:rPr lang="en-US" sz="2000" dirty="0" err="1">
                <a:latin typeface="Bahnschrift" panose="020B0502040204020203" pitchFamily="34" charset="0"/>
              </a:rPr>
              <a:t>rin</a:t>
            </a:r>
            <a:r>
              <a:rPr lang="en-US" sz="2000" dirty="0">
                <a:latin typeface="Bahnschrift" panose="020B0502040204020203" pitchFamily="34" charset="0"/>
              </a:rPr>
              <a:t> </a:t>
            </a:r>
            <a:r>
              <a:rPr lang="en-US" sz="2000" dirty="0" err="1">
                <a:latin typeface="Bahnschrift" panose="020B0502040204020203" pitchFamily="34" charset="0"/>
              </a:rPr>
              <a:t>intermediul</a:t>
            </a:r>
            <a:r>
              <a:rPr lang="en-US" sz="2000" dirty="0">
                <a:latin typeface="Bahnschrift" panose="020B0502040204020203" pitchFamily="34" charset="0"/>
              </a:rPr>
              <a:t> </a:t>
            </a:r>
            <a:r>
              <a:rPr lang="en-US" sz="2000" dirty="0" err="1">
                <a:latin typeface="Bahnschrift" panose="020B0502040204020203" pitchFamily="34" charset="0"/>
              </a:rPr>
              <a:t>acestei</a:t>
            </a:r>
            <a:r>
              <a:rPr lang="en-US" sz="2000" dirty="0">
                <a:latin typeface="Bahnschrift" panose="020B0502040204020203" pitchFamily="34" charset="0"/>
              </a:rPr>
              <a:t> </a:t>
            </a:r>
            <a:r>
              <a:rPr lang="en-US" sz="2000" dirty="0" err="1">
                <a:latin typeface="Bahnschrift" panose="020B0502040204020203" pitchFamily="34" charset="0"/>
              </a:rPr>
              <a:t>biblioteci</a:t>
            </a:r>
            <a:r>
              <a:rPr lang="en-US" sz="2000" dirty="0">
                <a:latin typeface="Bahnschrift" panose="020B0502040204020203" pitchFamily="34" charset="0"/>
              </a:rPr>
              <a:t> </a:t>
            </a:r>
            <a:r>
              <a:rPr lang="en-US" sz="2000" dirty="0" err="1">
                <a:latin typeface="Bahnschrift" panose="020B0502040204020203" pitchFamily="34" charset="0"/>
              </a:rPr>
              <a:t>dezvoltatorii</a:t>
            </a:r>
            <a:r>
              <a:rPr lang="en-US" sz="2000" dirty="0">
                <a:latin typeface="Bahnschrift" panose="020B0502040204020203" pitchFamily="34" charset="0"/>
              </a:rPr>
              <a:t> pot </a:t>
            </a:r>
            <a:r>
              <a:rPr lang="en-US" sz="2000" dirty="0" err="1">
                <a:latin typeface="Bahnschrift" panose="020B0502040204020203" pitchFamily="34" charset="0"/>
              </a:rPr>
              <a:t>accesa</a:t>
            </a:r>
            <a:r>
              <a:rPr lang="en-US" sz="2000" dirty="0">
                <a:latin typeface="Bahnschrift" panose="020B0502040204020203" pitchFamily="34" charset="0"/>
              </a:rPr>
              <a:t> </a:t>
            </a:r>
            <a:r>
              <a:rPr lang="en-US" sz="2000" dirty="0" err="1">
                <a:latin typeface="Bahnschrift" panose="020B0502040204020203" pitchFamily="34" charset="0"/>
              </a:rPr>
              <a:t>funcții</a:t>
            </a:r>
            <a:r>
              <a:rPr lang="en-US" sz="2000" dirty="0">
                <a:latin typeface="Bahnschrift" panose="020B0502040204020203" pitchFamily="34" charset="0"/>
              </a:rPr>
              <a:t> precum</a:t>
            </a:r>
            <a:r>
              <a:rPr lang="ro-RO" sz="2000" dirty="0">
                <a:latin typeface="Bahnschrift" panose="020B0502040204020203" pitchFamily="34" charset="0"/>
              </a:rPr>
              <a:t> estimarea de</a:t>
            </a:r>
            <a:r>
              <a:rPr lang="en-US" sz="2000" dirty="0">
                <a:latin typeface="Bahnschrift" panose="020B0502040204020203" pitchFamily="34" charset="0"/>
              </a:rPr>
              <a:t> landmark-</a:t>
            </a:r>
            <a:r>
              <a:rPr lang="en-US" sz="2000" dirty="0" err="1">
                <a:latin typeface="Bahnschrift" panose="020B0502040204020203" pitchFamily="34" charset="0"/>
              </a:rPr>
              <a:t>uri</a:t>
            </a:r>
            <a:r>
              <a:rPr lang="en-US" sz="2000" dirty="0">
                <a:latin typeface="Bahnschrift" panose="020B0502040204020203" pitchFamily="34" charset="0"/>
              </a:rPr>
              <a:t> </a:t>
            </a:r>
            <a:r>
              <a:rPr lang="en-US" sz="2000" dirty="0" err="1">
                <a:latin typeface="Bahnschrift" panose="020B0502040204020203" pitchFamily="34" charset="0"/>
              </a:rPr>
              <a:t>faciale</a:t>
            </a:r>
            <a:r>
              <a:rPr lang="ro-RO" sz="2000" dirty="0">
                <a:latin typeface="Bahnschrift" panose="020B0502040204020203" pitchFamily="34" charset="0"/>
              </a:rPr>
              <a:t>.</a:t>
            </a:r>
            <a:endParaRPr lang="en-US" sz="2000" dirty="0">
              <a:latin typeface="Bahnschrift" panose="020B0502040204020203" pitchFamily="34" charset="0"/>
            </a:endParaRPr>
          </a:p>
          <a:p>
            <a:endParaRPr lang="en-US" dirty="0"/>
          </a:p>
        </p:txBody>
      </p:sp>
      <p:pic>
        <p:nvPicPr>
          <p:cNvPr id="5" name="Picture 4">
            <a:extLst>
              <a:ext uri="{FF2B5EF4-FFF2-40B4-BE49-F238E27FC236}">
                <a16:creationId xmlns:a16="http://schemas.microsoft.com/office/drawing/2014/main" id="{A558EBC9-0807-6E05-F5A1-A17059988438}"/>
              </a:ext>
            </a:extLst>
          </p:cNvPr>
          <p:cNvPicPr>
            <a:picLocks noChangeAspect="1"/>
          </p:cNvPicPr>
          <p:nvPr/>
        </p:nvPicPr>
        <p:blipFill>
          <a:blip r:embed="rId2"/>
          <a:stretch>
            <a:fillRect/>
          </a:stretch>
        </p:blipFill>
        <p:spPr>
          <a:xfrm>
            <a:off x="1875453" y="2814220"/>
            <a:ext cx="6102220" cy="3556004"/>
          </a:xfrm>
          <a:prstGeom prst="rect">
            <a:avLst/>
          </a:prstGeom>
        </p:spPr>
      </p:pic>
      <p:sp>
        <p:nvSpPr>
          <p:cNvPr id="4" name="TextBox 3">
            <a:extLst>
              <a:ext uri="{FF2B5EF4-FFF2-40B4-BE49-F238E27FC236}">
                <a16:creationId xmlns:a16="http://schemas.microsoft.com/office/drawing/2014/main" id="{F05F5C77-3EAA-8F4F-E8CB-8611A08DCCF9}"/>
              </a:ext>
            </a:extLst>
          </p:cNvPr>
          <p:cNvSpPr txBox="1"/>
          <p:nvPr/>
        </p:nvSpPr>
        <p:spPr>
          <a:xfrm>
            <a:off x="8528180" y="3945891"/>
            <a:ext cx="2976432" cy="707886"/>
          </a:xfrm>
          <a:prstGeom prst="rect">
            <a:avLst/>
          </a:prstGeom>
          <a:noFill/>
        </p:spPr>
        <p:txBody>
          <a:bodyPr wrap="square" rtlCol="0">
            <a:spAutoFit/>
          </a:bodyPr>
          <a:lstStyle/>
          <a:p>
            <a:r>
              <a:rPr lang="ro-RO" sz="2000" dirty="0">
                <a:latin typeface="Bahnschrift" panose="020B0502040204020203" pitchFamily="34" charset="0"/>
              </a:rPr>
              <a:t>Structura folderului</a:t>
            </a:r>
          </a:p>
          <a:p>
            <a:r>
              <a:rPr lang="ro-RO" sz="2000" dirty="0">
                <a:latin typeface="Bahnschrift" panose="020B0502040204020203" pitchFamily="34" charset="0"/>
              </a:rPr>
              <a:t>face-api.js</a:t>
            </a:r>
            <a:endParaRPr lang="en-US" sz="2000" dirty="0">
              <a:latin typeface="Bahnschrift" panose="020B0502040204020203" pitchFamily="34" charset="0"/>
            </a:endParaRPr>
          </a:p>
        </p:txBody>
      </p:sp>
    </p:spTree>
    <p:extLst>
      <p:ext uri="{BB962C8B-B14F-4D97-AF65-F5344CB8AC3E}">
        <p14:creationId xmlns:p14="http://schemas.microsoft.com/office/powerpoint/2010/main" val="3627642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606CD-AC94-F418-37A6-DA20F47447A5}"/>
              </a:ext>
            </a:extLst>
          </p:cNvPr>
          <p:cNvSpPr>
            <a:spLocks noGrp="1"/>
          </p:cNvSpPr>
          <p:nvPr>
            <p:ph type="title"/>
          </p:nvPr>
        </p:nvSpPr>
        <p:spPr/>
        <p:txBody>
          <a:bodyPr/>
          <a:lstStyle/>
          <a:p>
            <a:r>
              <a:rPr lang="ro-RO" b="1" dirty="0">
                <a:latin typeface="Bahnschrift" panose="020B0502040204020203" pitchFamily="34" charset="0"/>
              </a:rPr>
              <a:t>Schemă bloc cod</a:t>
            </a:r>
            <a:endParaRPr lang="en-US" b="1" dirty="0">
              <a:latin typeface="Bahnschrift" panose="020B0502040204020203" pitchFamily="34" charset="0"/>
            </a:endParaRPr>
          </a:p>
        </p:txBody>
      </p:sp>
      <p:pic>
        <p:nvPicPr>
          <p:cNvPr id="5" name="Content Placeholder 4">
            <a:extLst>
              <a:ext uri="{FF2B5EF4-FFF2-40B4-BE49-F238E27FC236}">
                <a16:creationId xmlns:a16="http://schemas.microsoft.com/office/drawing/2014/main" id="{B4A0CFA9-A442-5A15-329E-44074A00895D}"/>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3654" t="22832" r="25043" b="21189"/>
          <a:stretch/>
        </p:blipFill>
        <p:spPr>
          <a:xfrm>
            <a:off x="1940767" y="1735494"/>
            <a:ext cx="9050694" cy="4208105"/>
          </a:xfrm>
        </p:spPr>
      </p:pic>
    </p:spTree>
    <p:extLst>
      <p:ext uri="{BB962C8B-B14F-4D97-AF65-F5344CB8AC3E}">
        <p14:creationId xmlns:p14="http://schemas.microsoft.com/office/powerpoint/2010/main" val="4009356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21745-D0D5-239A-4ED1-C87A643B646F}"/>
              </a:ext>
            </a:extLst>
          </p:cNvPr>
          <p:cNvSpPr>
            <a:spLocks noGrp="1"/>
          </p:cNvSpPr>
          <p:nvPr>
            <p:ph type="title"/>
          </p:nvPr>
        </p:nvSpPr>
        <p:spPr/>
        <p:txBody>
          <a:bodyPr/>
          <a:lstStyle/>
          <a:p>
            <a:r>
              <a:rPr lang="ro-RO" b="1" dirty="0">
                <a:latin typeface="Bahnschrift" panose="020B0502040204020203" pitchFamily="34" charset="0"/>
              </a:rPr>
              <a:t>Rulare proiect</a:t>
            </a:r>
            <a:endParaRPr lang="en-US" b="1" dirty="0">
              <a:latin typeface="Bahnschrift" panose="020B0502040204020203" pitchFamily="34" charset="0"/>
            </a:endParaRPr>
          </a:p>
        </p:txBody>
      </p:sp>
      <p:sp>
        <p:nvSpPr>
          <p:cNvPr id="3" name="Content Placeholder 2">
            <a:extLst>
              <a:ext uri="{FF2B5EF4-FFF2-40B4-BE49-F238E27FC236}">
                <a16:creationId xmlns:a16="http://schemas.microsoft.com/office/drawing/2014/main" id="{613441B6-42DE-EA56-E231-0EB26A599D5F}"/>
              </a:ext>
            </a:extLst>
          </p:cNvPr>
          <p:cNvSpPr>
            <a:spLocks noGrp="1"/>
          </p:cNvSpPr>
          <p:nvPr>
            <p:ph idx="1"/>
          </p:nvPr>
        </p:nvSpPr>
        <p:spPr/>
        <p:txBody>
          <a:bodyPr>
            <a:normAutofit/>
          </a:bodyPr>
          <a:lstStyle/>
          <a:p>
            <a:r>
              <a:rPr lang="ro-RO" sz="2000" dirty="0">
                <a:latin typeface="Bahnschrift" panose="020B0502040204020203" pitchFamily="34" charset="0"/>
              </a:rPr>
              <a:t>După finalizarea redactării celor trei fișiere(.js</a:t>
            </a:r>
            <a:r>
              <a:rPr lang="en-US" sz="2000" dirty="0">
                <a:latin typeface="Bahnschrift" panose="020B0502040204020203" pitchFamily="34" charset="0"/>
              </a:rPr>
              <a:t>; .html; .</a:t>
            </a:r>
            <a:r>
              <a:rPr lang="en-US" sz="2000" dirty="0" err="1">
                <a:latin typeface="Bahnschrift" panose="020B0502040204020203" pitchFamily="34" charset="0"/>
              </a:rPr>
              <a:t>css</a:t>
            </a:r>
            <a:r>
              <a:rPr lang="en-US" sz="2000" dirty="0">
                <a:latin typeface="Bahnschrift" panose="020B0502040204020203" pitchFamily="34" charset="0"/>
              </a:rPr>
              <a:t>), se </a:t>
            </a:r>
            <a:r>
              <a:rPr lang="en-US" sz="2000" dirty="0" err="1">
                <a:latin typeface="Bahnschrift" panose="020B0502040204020203" pitchFamily="34" charset="0"/>
              </a:rPr>
              <a:t>intr</a:t>
            </a:r>
            <a:r>
              <a:rPr lang="ro-RO" sz="2000" dirty="0">
                <a:latin typeface="Bahnschrift" panose="020B0502040204020203" pitchFamily="34" charset="0"/>
              </a:rPr>
              <a:t>ă în Command Prompt cu drepturi de admin, se deplasează la folderul unde se află aceste trei fișiere prin comanda </a:t>
            </a:r>
            <a:r>
              <a:rPr lang="ro-RO" sz="2000" i="1" dirty="0">
                <a:latin typeface="Bahnschrift" panose="020B0502040204020203" pitchFamily="34" charset="0"/>
              </a:rPr>
              <a:t>cd, </a:t>
            </a:r>
            <a:r>
              <a:rPr lang="ro-RO" sz="2000" dirty="0">
                <a:latin typeface="Bahnschrift" panose="020B0502040204020203" pitchFamily="34" charset="0"/>
              </a:rPr>
              <a:t>se aplică comanda </a:t>
            </a:r>
            <a:r>
              <a:rPr lang="ro-RO" sz="2000" i="1" dirty="0">
                <a:latin typeface="Bahnschrift" panose="020B0502040204020203" pitchFamily="34" charset="0"/>
              </a:rPr>
              <a:t>npm install –g http-server, </a:t>
            </a:r>
            <a:r>
              <a:rPr lang="ro-RO" sz="2000" dirty="0">
                <a:latin typeface="Bahnschrift" panose="020B0502040204020203" pitchFamily="34" charset="0"/>
              </a:rPr>
              <a:t>apoi comanda </a:t>
            </a:r>
            <a:r>
              <a:rPr lang="ro-RO" sz="2000" i="1" dirty="0">
                <a:latin typeface="Bahnschrift" panose="020B0502040204020203" pitchFamily="34" charset="0"/>
              </a:rPr>
              <a:t>http-server –c-1, </a:t>
            </a:r>
            <a:r>
              <a:rPr lang="ro-RO" sz="2000" dirty="0">
                <a:latin typeface="Bahnschrift" panose="020B0502040204020203" pitchFamily="34" charset="0"/>
              </a:rPr>
              <a:t>pentru a porni serverul.</a:t>
            </a:r>
          </a:p>
          <a:p>
            <a:r>
              <a:rPr lang="ro-RO" sz="2000" dirty="0">
                <a:latin typeface="Bahnschrift" panose="020B0502040204020203" pitchFamily="34" charset="0"/>
              </a:rPr>
              <a:t>Pentru a vedea rezultatele se intră pe adresa </a:t>
            </a:r>
            <a:r>
              <a:rPr lang="ro-RO" sz="2000" i="1" dirty="0">
                <a:latin typeface="Bahnschrift" panose="020B0502040204020203" pitchFamily="34" charset="0"/>
              </a:rPr>
              <a:t>htttp</a:t>
            </a:r>
            <a:r>
              <a:rPr lang="en-US" sz="2000" i="1" dirty="0">
                <a:latin typeface="Bahnschrift" panose="020B0502040204020203" pitchFamily="34" charset="0"/>
              </a:rPr>
              <a:t>://localhost:8080.</a:t>
            </a:r>
          </a:p>
          <a:p>
            <a:r>
              <a:rPr lang="en-US" sz="2000" dirty="0" err="1">
                <a:latin typeface="Bahnschrift" panose="020B0502040204020203" pitchFamily="34" charset="0"/>
              </a:rPr>
              <a:t>Pentru</a:t>
            </a:r>
            <a:r>
              <a:rPr lang="en-US" sz="2000" dirty="0">
                <a:latin typeface="Bahnschrift" panose="020B0502040204020203" pitchFamily="34" charset="0"/>
              </a:rPr>
              <a:t> </a:t>
            </a:r>
            <a:r>
              <a:rPr lang="ro-RO" sz="2000" dirty="0">
                <a:latin typeface="Bahnschrift" panose="020B0502040204020203" pitchFamily="34" charset="0"/>
              </a:rPr>
              <a:t>închidere se apasă combinația </a:t>
            </a:r>
            <a:r>
              <a:rPr lang="ro-RO" sz="2000" i="1" dirty="0">
                <a:latin typeface="Bahnschrift" panose="020B0502040204020203" pitchFamily="34" charset="0"/>
              </a:rPr>
              <a:t>CTRL-c.</a:t>
            </a:r>
            <a:endParaRPr lang="ro-RO" sz="2000" dirty="0">
              <a:latin typeface="Bahnschrift" panose="020B0502040204020203" pitchFamily="34" charset="0"/>
            </a:endParaRPr>
          </a:p>
        </p:txBody>
      </p:sp>
    </p:spTree>
    <p:extLst>
      <p:ext uri="{BB962C8B-B14F-4D97-AF65-F5344CB8AC3E}">
        <p14:creationId xmlns:p14="http://schemas.microsoft.com/office/powerpoint/2010/main" val="3198586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25F6BF-AA15-38E2-8E7E-C385109FB2D3}"/>
              </a:ext>
            </a:extLst>
          </p:cNvPr>
          <p:cNvSpPr>
            <a:spLocks noGrp="1"/>
          </p:cNvSpPr>
          <p:nvPr>
            <p:ph type="title"/>
          </p:nvPr>
        </p:nvSpPr>
        <p:spPr>
          <a:xfrm>
            <a:off x="2592925" y="624110"/>
            <a:ext cx="8911687" cy="794143"/>
          </a:xfrm>
        </p:spPr>
        <p:txBody>
          <a:bodyPr/>
          <a:lstStyle/>
          <a:p>
            <a:r>
              <a:rPr lang="ro-RO" b="1" dirty="0">
                <a:latin typeface="Bahnschrift" panose="020B0502040204020203" pitchFamily="34" charset="0"/>
              </a:rPr>
              <a:t>Rezultate practice</a:t>
            </a:r>
            <a:endParaRPr lang="en-US" b="1" dirty="0">
              <a:latin typeface="Bahnschrift" panose="020B0502040204020203" pitchFamily="34" charset="0"/>
            </a:endParaRPr>
          </a:p>
        </p:txBody>
      </p:sp>
      <p:pic>
        <p:nvPicPr>
          <p:cNvPr id="5" name="Content Placeholder 4">
            <a:extLst>
              <a:ext uri="{FF2B5EF4-FFF2-40B4-BE49-F238E27FC236}">
                <a16:creationId xmlns:a16="http://schemas.microsoft.com/office/drawing/2014/main" id="{DA3DF017-985A-75C4-BE40-6C920008803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17750" y="2455640"/>
            <a:ext cx="7556500" cy="3778250"/>
          </a:xfrm>
        </p:spPr>
      </p:pic>
      <p:sp>
        <p:nvSpPr>
          <p:cNvPr id="6" name="TextBox 5">
            <a:extLst>
              <a:ext uri="{FF2B5EF4-FFF2-40B4-BE49-F238E27FC236}">
                <a16:creationId xmlns:a16="http://schemas.microsoft.com/office/drawing/2014/main" id="{B53E5E6C-AC15-E27C-6222-EA7E5332421E}"/>
              </a:ext>
            </a:extLst>
          </p:cNvPr>
          <p:cNvSpPr txBox="1"/>
          <p:nvPr/>
        </p:nvSpPr>
        <p:spPr>
          <a:xfrm>
            <a:off x="5333843" y="1542832"/>
            <a:ext cx="2074663" cy="400110"/>
          </a:xfrm>
          <a:prstGeom prst="rect">
            <a:avLst/>
          </a:prstGeom>
          <a:noFill/>
        </p:spPr>
        <p:txBody>
          <a:bodyPr wrap="square" rtlCol="0">
            <a:spAutoFit/>
          </a:bodyPr>
          <a:lstStyle/>
          <a:p>
            <a:pPr algn="ctr"/>
            <a:r>
              <a:rPr lang="ro-RO" sz="2000" dirty="0">
                <a:latin typeface="Bahnschrift" panose="020B0502040204020203" pitchFamily="34" charset="0"/>
              </a:rPr>
              <a:t>Stadiu incipient</a:t>
            </a:r>
            <a:endParaRPr lang="en-US" sz="2000" dirty="0">
              <a:latin typeface="Bahnschrift" panose="020B0502040204020203" pitchFamily="34" charset="0"/>
            </a:endParaRPr>
          </a:p>
        </p:txBody>
      </p:sp>
    </p:spTree>
    <p:extLst>
      <p:ext uri="{BB962C8B-B14F-4D97-AF65-F5344CB8AC3E}">
        <p14:creationId xmlns:p14="http://schemas.microsoft.com/office/powerpoint/2010/main" val="30402471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7A888-AA20-E822-2C93-FA1B6A3445D3}"/>
              </a:ext>
            </a:extLst>
          </p:cNvPr>
          <p:cNvSpPr>
            <a:spLocks noGrp="1"/>
          </p:cNvSpPr>
          <p:nvPr>
            <p:ph type="title"/>
          </p:nvPr>
        </p:nvSpPr>
        <p:spPr>
          <a:xfrm>
            <a:off x="2592925" y="624110"/>
            <a:ext cx="8911687" cy="747489"/>
          </a:xfrm>
        </p:spPr>
        <p:txBody>
          <a:bodyPr/>
          <a:lstStyle/>
          <a:p>
            <a:r>
              <a:rPr lang="ro-RO" b="1" dirty="0">
                <a:latin typeface="Bahnschrift" panose="020B0502040204020203" pitchFamily="34" charset="0"/>
              </a:rPr>
              <a:t>Rezultate practice</a:t>
            </a:r>
            <a:endParaRPr lang="en-US" b="1" dirty="0">
              <a:latin typeface="Bahnschrift" panose="020B0502040204020203" pitchFamily="34" charset="0"/>
            </a:endParaRPr>
          </a:p>
        </p:txBody>
      </p:sp>
      <p:pic>
        <p:nvPicPr>
          <p:cNvPr id="5" name="Content Placeholder 4">
            <a:extLst>
              <a:ext uri="{FF2B5EF4-FFF2-40B4-BE49-F238E27FC236}">
                <a16:creationId xmlns:a16="http://schemas.microsoft.com/office/drawing/2014/main" id="{411DA141-0862-5315-7383-870932533E4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52966" y="2217574"/>
            <a:ext cx="7417423" cy="3778250"/>
          </a:xfrm>
        </p:spPr>
      </p:pic>
      <p:sp>
        <p:nvSpPr>
          <p:cNvPr id="6" name="TextBox 5">
            <a:extLst>
              <a:ext uri="{FF2B5EF4-FFF2-40B4-BE49-F238E27FC236}">
                <a16:creationId xmlns:a16="http://schemas.microsoft.com/office/drawing/2014/main" id="{93E2701E-C95E-DAEB-B0E4-80F3DEBB4006}"/>
              </a:ext>
            </a:extLst>
          </p:cNvPr>
          <p:cNvSpPr txBox="1"/>
          <p:nvPr/>
        </p:nvSpPr>
        <p:spPr>
          <a:xfrm>
            <a:off x="4323183" y="1371599"/>
            <a:ext cx="3545633" cy="400110"/>
          </a:xfrm>
          <a:prstGeom prst="rect">
            <a:avLst/>
          </a:prstGeom>
          <a:noFill/>
        </p:spPr>
        <p:txBody>
          <a:bodyPr wrap="square" rtlCol="0">
            <a:spAutoFit/>
          </a:bodyPr>
          <a:lstStyle/>
          <a:p>
            <a:pPr algn="ctr"/>
            <a:r>
              <a:rPr lang="ro-RO" sz="2000" dirty="0">
                <a:latin typeface="Bahnschrift" panose="020B0502040204020203" pitchFamily="34" charset="0"/>
              </a:rPr>
              <a:t>Stadiu aproape de terminare</a:t>
            </a:r>
            <a:endParaRPr lang="en-US" sz="2000" dirty="0">
              <a:latin typeface="Bahnschrift" panose="020B0502040204020203" pitchFamily="34" charset="0"/>
            </a:endParaRPr>
          </a:p>
        </p:txBody>
      </p:sp>
    </p:spTree>
    <p:extLst>
      <p:ext uri="{BB962C8B-B14F-4D97-AF65-F5344CB8AC3E}">
        <p14:creationId xmlns:p14="http://schemas.microsoft.com/office/powerpoint/2010/main" val="33420665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1EA53-206D-2A87-A471-3CA3FE9C9581}"/>
              </a:ext>
            </a:extLst>
          </p:cNvPr>
          <p:cNvSpPr>
            <a:spLocks noGrp="1"/>
          </p:cNvSpPr>
          <p:nvPr>
            <p:ph type="title"/>
          </p:nvPr>
        </p:nvSpPr>
        <p:spPr>
          <a:xfrm>
            <a:off x="2592925" y="624110"/>
            <a:ext cx="8911687" cy="812804"/>
          </a:xfrm>
        </p:spPr>
        <p:txBody>
          <a:bodyPr/>
          <a:lstStyle/>
          <a:p>
            <a:r>
              <a:rPr lang="ro-RO" b="1" dirty="0">
                <a:latin typeface="Bahnschrift" panose="020B0502040204020203" pitchFamily="34" charset="0"/>
              </a:rPr>
              <a:t>Rezultate practice</a:t>
            </a:r>
            <a:endParaRPr lang="en-US" b="1" dirty="0">
              <a:latin typeface="Bahnschrift" panose="020B0502040204020203" pitchFamily="34" charset="0"/>
            </a:endParaRPr>
          </a:p>
        </p:txBody>
      </p:sp>
      <p:pic>
        <p:nvPicPr>
          <p:cNvPr id="5" name="Content Placeholder 4">
            <a:extLst>
              <a:ext uri="{FF2B5EF4-FFF2-40B4-BE49-F238E27FC236}">
                <a16:creationId xmlns:a16="http://schemas.microsoft.com/office/drawing/2014/main" id="{4D5BB633-D2E8-7BCE-3214-F5F97FEC1D4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18959" y="2348204"/>
            <a:ext cx="7154082" cy="3778250"/>
          </a:xfrm>
        </p:spPr>
      </p:pic>
      <p:sp>
        <p:nvSpPr>
          <p:cNvPr id="6" name="TextBox 5">
            <a:extLst>
              <a:ext uri="{FF2B5EF4-FFF2-40B4-BE49-F238E27FC236}">
                <a16:creationId xmlns:a16="http://schemas.microsoft.com/office/drawing/2014/main" id="{EA15FE8E-9389-7A0D-3718-1B42A51E2CEE}"/>
              </a:ext>
            </a:extLst>
          </p:cNvPr>
          <p:cNvSpPr txBox="1"/>
          <p:nvPr/>
        </p:nvSpPr>
        <p:spPr>
          <a:xfrm>
            <a:off x="5382209" y="1639860"/>
            <a:ext cx="1503784" cy="400110"/>
          </a:xfrm>
          <a:prstGeom prst="rect">
            <a:avLst/>
          </a:prstGeom>
          <a:noFill/>
        </p:spPr>
        <p:txBody>
          <a:bodyPr wrap="square" rtlCol="0">
            <a:spAutoFit/>
          </a:bodyPr>
          <a:lstStyle/>
          <a:p>
            <a:pPr algn="ctr"/>
            <a:r>
              <a:rPr lang="ro-RO" sz="2000" dirty="0">
                <a:latin typeface="Bahnschrift" panose="020B0502040204020203" pitchFamily="34" charset="0"/>
              </a:rPr>
              <a:t>Stadiu final</a:t>
            </a:r>
            <a:endParaRPr lang="en-US" sz="2000" dirty="0">
              <a:latin typeface="Bahnschrift" panose="020B0502040204020203" pitchFamily="34" charset="0"/>
            </a:endParaRPr>
          </a:p>
        </p:txBody>
      </p:sp>
    </p:spTree>
    <p:extLst>
      <p:ext uri="{BB962C8B-B14F-4D97-AF65-F5344CB8AC3E}">
        <p14:creationId xmlns:p14="http://schemas.microsoft.com/office/powerpoint/2010/main" val="448766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57630D-2462-E5C4-7F96-49CBA727C9C9}"/>
              </a:ext>
            </a:extLst>
          </p:cNvPr>
          <p:cNvSpPr>
            <a:spLocks noGrp="1"/>
          </p:cNvSpPr>
          <p:nvPr>
            <p:ph type="title"/>
          </p:nvPr>
        </p:nvSpPr>
        <p:spPr/>
        <p:txBody>
          <a:bodyPr/>
          <a:lstStyle/>
          <a:p>
            <a:r>
              <a:rPr lang="ro-RO" b="1" dirty="0">
                <a:latin typeface="Bahnschrift" panose="020B0502040204020203" pitchFamily="34" charset="0"/>
              </a:rPr>
              <a:t>Concluzii</a:t>
            </a:r>
            <a:endParaRPr lang="en-US" b="1" dirty="0">
              <a:latin typeface="Bahnschrift" panose="020B0502040204020203" pitchFamily="34" charset="0"/>
            </a:endParaRPr>
          </a:p>
        </p:txBody>
      </p:sp>
      <p:sp>
        <p:nvSpPr>
          <p:cNvPr id="3" name="Content Placeholder 2">
            <a:extLst>
              <a:ext uri="{FF2B5EF4-FFF2-40B4-BE49-F238E27FC236}">
                <a16:creationId xmlns:a16="http://schemas.microsoft.com/office/drawing/2014/main" id="{0B2719D7-01BB-CABB-47E9-17469E9F35C3}"/>
              </a:ext>
            </a:extLst>
          </p:cNvPr>
          <p:cNvSpPr>
            <a:spLocks noGrp="1"/>
          </p:cNvSpPr>
          <p:nvPr>
            <p:ph idx="1"/>
          </p:nvPr>
        </p:nvSpPr>
        <p:spPr/>
        <p:txBody>
          <a:bodyPr>
            <a:normAutofit/>
          </a:bodyPr>
          <a:lstStyle/>
          <a:p>
            <a:r>
              <a:rPr lang="ro-RO" sz="2000" dirty="0">
                <a:latin typeface="Bahnschrift" panose="020B0502040204020203" pitchFamily="34" charset="0"/>
              </a:rPr>
              <a:t>Pozele ar trebui să fie în format RGB, iar cel puțin una din ele să aibă o dimensiune mai mare de 200 KB, în caz contrar etapa de Fetching eșuează, iar întreaga recunoaștere facială este compromisă chiar dacă pozele nu respectă criteriile decât în cadrul unei anumite persoane, lucru observat empiric.</a:t>
            </a:r>
          </a:p>
          <a:p>
            <a:r>
              <a:rPr lang="ro-RO" sz="2000" dirty="0">
                <a:latin typeface="Bahnschrift" panose="020B0502040204020203" pitchFamily="34" charset="0"/>
              </a:rPr>
              <a:t>Ducând proiectul în acest punct, putem spune că a fost un exercițiu de cunoaștere și înțelegere a conceptului de machine learning în programarea web, lucru foarte benefic pentru viitor.</a:t>
            </a:r>
            <a:endParaRPr lang="en-US" sz="2000" dirty="0">
              <a:latin typeface="Bahnschrift" panose="020B0502040204020203" pitchFamily="34" charset="0"/>
            </a:endParaRPr>
          </a:p>
        </p:txBody>
      </p:sp>
    </p:spTree>
    <p:extLst>
      <p:ext uri="{BB962C8B-B14F-4D97-AF65-F5344CB8AC3E}">
        <p14:creationId xmlns:p14="http://schemas.microsoft.com/office/powerpoint/2010/main" val="28873043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FB4AE-3A9C-E8BE-8BFC-4BB1CE300DAB}"/>
              </a:ext>
            </a:extLst>
          </p:cNvPr>
          <p:cNvSpPr>
            <a:spLocks noGrp="1"/>
          </p:cNvSpPr>
          <p:nvPr>
            <p:ph type="title"/>
          </p:nvPr>
        </p:nvSpPr>
        <p:spPr/>
        <p:txBody>
          <a:bodyPr/>
          <a:lstStyle/>
          <a:p>
            <a:r>
              <a:rPr lang="ro-RO" b="1" dirty="0">
                <a:latin typeface="Bahnschrift" panose="020B0502040204020203" pitchFamily="34" charset="0"/>
              </a:rPr>
              <a:t>Bibliografie</a:t>
            </a:r>
            <a:endParaRPr lang="en-US" b="1" dirty="0">
              <a:latin typeface="Bahnschrift" panose="020B0502040204020203" pitchFamily="34" charset="0"/>
            </a:endParaRPr>
          </a:p>
        </p:txBody>
      </p:sp>
      <p:sp>
        <p:nvSpPr>
          <p:cNvPr id="3" name="Content Placeholder 2">
            <a:extLst>
              <a:ext uri="{FF2B5EF4-FFF2-40B4-BE49-F238E27FC236}">
                <a16:creationId xmlns:a16="http://schemas.microsoft.com/office/drawing/2014/main" id="{FB3B3CFB-56F0-6943-9EDD-2A4DD5B2D8DC}"/>
              </a:ext>
            </a:extLst>
          </p:cNvPr>
          <p:cNvSpPr>
            <a:spLocks noGrp="1"/>
          </p:cNvSpPr>
          <p:nvPr>
            <p:ph idx="1"/>
          </p:nvPr>
        </p:nvSpPr>
        <p:spPr/>
        <p:txBody>
          <a:bodyPr>
            <a:normAutofit/>
          </a:bodyPr>
          <a:lstStyle/>
          <a:p>
            <a:r>
              <a:rPr lang="en-US" sz="2000" dirty="0">
                <a:latin typeface="Bahnschrift" panose="020B0502040204020203" pitchFamily="34" charset="0"/>
                <a:hlinkClick r:id="rId2"/>
              </a:rPr>
              <a:t>https://github.com/justadudewhohacks/face-api.js?files=1</a:t>
            </a:r>
            <a:endParaRPr lang="ro-RO" sz="2000" dirty="0">
              <a:latin typeface="Bahnschrift" panose="020B0502040204020203" pitchFamily="34" charset="0"/>
            </a:endParaRPr>
          </a:p>
          <a:p>
            <a:r>
              <a:rPr lang="en-US" sz="2000" dirty="0">
                <a:latin typeface="Bahnschrift" panose="020B0502040204020203" pitchFamily="34" charset="0"/>
              </a:rPr>
              <a:t>https://www.geeksforgeeks.org/how-to-open-web-cam-in-javascript/</a:t>
            </a:r>
          </a:p>
        </p:txBody>
      </p:sp>
    </p:spTree>
    <p:extLst>
      <p:ext uri="{BB962C8B-B14F-4D97-AF65-F5344CB8AC3E}">
        <p14:creationId xmlns:p14="http://schemas.microsoft.com/office/powerpoint/2010/main" val="3501282820"/>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TM02892315[[fn=Wisp]]</Template>
  <TotalTime>95</TotalTime>
  <Words>587</Words>
  <Application>Microsoft Office PowerPoint</Application>
  <PresentationFormat>Widescreen</PresentationFormat>
  <Paragraphs>38</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Bahnschrift</vt:lpstr>
      <vt:lpstr>Century Gothic</vt:lpstr>
      <vt:lpstr>Wingdings 3</vt:lpstr>
      <vt:lpstr>Wisp</vt:lpstr>
      <vt:lpstr>Facial Recognition Using Javascript</vt:lpstr>
      <vt:lpstr>Descrierea aplicației</vt:lpstr>
      <vt:lpstr>Descrierea aplicației</vt:lpstr>
      <vt:lpstr>Descrierea aplicației</vt:lpstr>
      <vt:lpstr>Biblioteca utilizată</vt:lpstr>
      <vt:lpstr>Biblioteca utilizată</vt:lpstr>
      <vt:lpstr>Schemă bloc cod</vt:lpstr>
      <vt:lpstr>Rulare proiect</vt:lpstr>
      <vt:lpstr>Rezultate practice</vt:lpstr>
      <vt:lpstr>Rezultate practice</vt:lpstr>
      <vt:lpstr>Rezultate practice</vt:lpstr>
      <vt:lpstr>Concluzii</vt:lpstr>
      <vt:lpstr>Bibliografie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Facial Recognition Using Javascript</dc:title>
  <dc:creator>Edy Borta</dc:creator>
  <cp:lastModifiedBy>Cristian Irimescu</cp:lastModifiedBy>
  <cp:revision>92</cp:revision>
  <dcterms:created xsi:type="dcterms:W3CDTF">2024-01-10T14:38:10Z</dcterms:created>
  <dcterms:modified xsi:type="dcterms:W3CDTF">2024-12-07T12:59:40Z</dcterms:modified>
</cp:coreProperties>
</file>